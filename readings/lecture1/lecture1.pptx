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874519"/>
            <a:ext cx="9692640" cy="914400"/>
          </a:xfrm>
          <a:prstGeom prst="rect">
            <a:avLst/>
          </a:prstGeom>
          <a:noFill/>
        </p:spPr>
        <p:txBody>
          <a:bodyPr wrap="square" lIns="0" rIns="0" tIns="0" bIns="0">
            <a:spAutoFit/>
          </a:bodyPr>
          <a:lstStyle/>
          <a:p>
            <a:pPr algn="l">
              <a:spcBef>
                <a:spcPts val="0"/>
              </a:spcBef>
              <a:spcAft>
                <a:spcPts val="1400"/>
              </a:spcAft>
            </a:pPr>
            <a:r>
              <a:rPr sz="1300" b="1" i="0">
                <a:solidFill>
                  <a:srgbClr val="C4960C"/>
                </a:solidFill>
                <a:latin typeface="Calibri"/>
              </a:rPr>
              <a:t>STAT 215A  ·  LECTURE 1 READINGS</a:t>
            </a:r>
          </a:p>
          <a:p>
            <a:pPr algn="l">
              <a:spcBef>
                <a:spcPts val="0"/>
              </a:spcBef>
              <a:spcAft>
                <a:spcPts val="800"/>
              </a:spcAft>
            </a:pPr>
            <a:r>
              <a:rPr sz="4200" b="1" i="0">
                <a:solidFill>
                  <a:srgbClr val="003B70"/>
                </a:solidFill>
                <a:latin typeface="Calibri"/>
              </a:rPr>
              <a:t>Six documents, one argument</a:t>
            </a:r>
          </a:p>
          <a:p>
            <a:pPr algn="l">
              <a:spcBef>
                <a:spcPts val="0"/>
              </a:spcBef>
              <a:spcAft>
                <a:spcPts val="0"/>
              </a:spcAft>
            </a:pPr>
            <a:r>
              <a:rPr sz="1900" b="0" i="0">
                <a:solidFill>
                  <a:srgbClr val="6B6F76"/>
                </a:solidFill>
                <a:latin typeface="Calibri"/>
              </a:rPr>
              <a:t>Statistics earns its authority by staying in contact with reality.</a:t>
            </a:r>
          </a:p>
        </p:txBody>
      </p:sp>
      <p:sp>
        <p:nvSpPr>
          <p:cNvPr id="4" name="Rectangle 3"/>
          <p:cNvSpPr/>
          <p:nvPr/>
        </p:nvSpPr>
        <p:spPr>
          <a:xfrm>
            <a:off x="1188720" y="3611880"/>
            <a:ext cx="2926080" cy="31750"/>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931920"/>
            <a:ext cx="9692640" cy="2011680"/>
          </a:xfrm>
          <a:prstGeom prst="rect">
            <a:avLst/>
          </a:prstGeom>
          <a:noFill/>
        </p:spPr>
        <p:txBody>
          <a:bodyPr wrap="square" lIns="0" rIns="0" tIns="0" bIns="0">
            <a:spAutoFit/>
          </a:bodyPr>
          <a:lstStyle/>
          <a:p/>
          <a:p>
            <a:pPr algn="l">
              <a:spcBef>
                <a:spcPts val="0"/>
              </a:spcBef>
              <a:spcAft>
                <a:spcPts val="900"/>
              </a:spcAft>
            </a:pPr>
            <a:r>
              <a:rPr sz="1450" b="0" i="0">
                <a:solidFill>
                  <a:srgbClr val="1A1A1E"/>
                </a:solidFill>
                <a:latin typeface="Calibri"/>
              </a:rPr>
              <a:t>Yu &amp; Barter, Veridical Data Science, Ch. 1-3  (vdsbook.com)</a:t>
            </a:r>
          </a:p>
          <a:p>
            <a:pPr algn="l">
              <a:spcBef>
                <a:spcPts val="0"/>
              </a:spcBef>
              <a:spcAft>
                <a:spcPts val="900"/>
              </a:spcAft>
            </a:pPr>
            <a:r>
              <a:rPr sz="1450" b="0" i="0">
                <a:solidFill>
                  <a:srgbClr val="1A1A1E"/>
                </a:solidFill>
                <a:latin typeface="Calibri"/>
              </a:rPr>
              <a:t>Box (1976), Science and Statistics  ·  JASA 71(356)</a:t>
            </a:r>
          </a:p>
          <a:p>
            <a:pPr algn="l">
              <a:spcBef>
                <a:spcPts val="0"/>
              </a:spcBef>
              <a:spcAft>
                <a:spcPts val="900"/>
              </a:spcAft>
            </a:pPr>
            <a:r>
              <a:rPr sz="1450" b="0" i="0">
                <a:solidFill>
                  <a:srgbClr val="1A1A1E"/>
                </a:solidFill>
                <a:latin typeface="Calibri"/>
              </a:rPr>
              <a:t>DeGroot (1987), A Conversation with George Box  ·  Statist. Sci. 2(3)</a:t>
            </a:r>
          </a:p>
          <a:p>
            <a:pPr algn="l">
              <a:spcBef>
                <a:spcPts val="0"/>
              </a:spcBef>
              <a:spcAft>
                <a:spcPts val="900"/>
              </a:spcAft>
            </a:pPr>
            <a:r>
              <a:rPr sz="1450" b="0" i="0">
                <a:solidFill>
                  <a:srgbClr val="1A1A1E"/>
                </a:solidFill>
                <a:latin typeface="Calibri"/>
              </a:rPr>
              <a:t>Wallis (1980), The Statistical Research Group, 1942-1945  ·  JASA 75(370)</a:t>
            </a:r>
          </a:p>
          <a:p>
            <a:pPr algn="l">
              <a:spcBef>
                <a:spcPts val="1000"/>
              </a:spcBef>
              <a:spcAft>
                <a:spcPts val="0"/>
              </a:spcAft>
            </a:pPr>
            <a:r>
              <a:rPr sz="1250" b="0" i="1">
                <a:solidFill>
                  <a:srgbClr val="6B6F76"/>
                </a:solidFill>
                <a:latin typeface="Calibri"/>
              </a:rPr>
              <a:t>Read time: about 15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ORIENTATION</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How the six fit together</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2/14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1400"/>
              </a:spcAft>
            </a:pPr>
            <a:r>
              <a:rPr sz="1500" b="1">
                <a:solidFill>
                  <a:srgbClr val="C4960C"/>
                </a:solidFill>
                <a:latin typeface="Calibri"/>
              </a:rPr>
              <a:t>• </a:t>
            </a:r>
            <a:r>
              <a:rPr sz="1500" b="1">
                <a:solidFill>
                  <a:srgbClr val="1A1A1E"/>
                </a:solidFill>
                <a:latin typeface="Calibri"/>
              </a:rPr>
              <a:t>Yu &amp; Barter Ch. 1</a:t>
            </a:r>
            <a:r>
              <a:rPr sz="1500">
                <a:solidFill>
                  <a:srgbClr val="1A1A1E"/>
                </a:solidFill>
                <a:latin typeface="Calibri"/>
              </a:rPr>
              <a:t> sets the standard. What makes a data-driven result trustworthy (PCS).</a:t>
            </a:r>
          </a:p>
          <a:p>
            <a:pPr>
              <a:spcBef>
                <a:spcPts val="0"/>
              </a:spcBef>
              <a:spcAft>
                <a:spcPts val="1400"/>
              </a:spcAft>
            </a:pPr>
            <a:r>
              <a:rPr sz="1500" b="1">
                <a:solidFill>
                  <a:srgbClr val="C4960C"/>
                </a:solidFill>
                <a:latin typeface="Calibri"/>
              </a:rPr>
              <a:t>• </a:t>
            </a:r>
            <a:r>
              <a:rPr sz="1500" b="1">
                <a:solidFill>
                  <a:srgbClr val="1A1A1E"/>
                </a:solidFill>
                <a:latin typeface="Calibri"/>
              </a:rPr>
              <a:t>Yu &amp; Barter Ch. 2</a:t>
            </a:r>
            <a:r>
              <a:rPr sz="1500">
                <a:solidFill>
                  <a:srgbClr val="1A1A1E"/>
                </a:solidFill>
                <a:latin typeface="Calibri"/>
              </a:rPr>
              <a:t> gives the itinerary, the six stages of the data science life cycle.</a:t>
            </a:r>
          </a:p>
          <a:p>
            <a:pPr>
              <a:spcBef>
                <a:spcPts val="0"/>
              </a:spcBef>
              <a:spcAft>
                <a:spcPts val="1400"/>
              </a:spcAft>
            </a:pPr>
            <a:r>
              <a:rPr sz="1500" b="1">
                <a:solidFill>
                  <a:srgbClr val="C4960C"/>
                </a:solidFill>
                <a:latin typeface="Calibri"/>
              </a:rPr>
              <a:t>• </a:t>
            </a:r>
            <a:r>
              <a:rPr sz="1500" b="1">
                <a:solidFill>
                  <a:srgbClr val="1A1A1E"/>
                </a:solidFill>
                <a:latin typeface="Calibri"/>
              </a:rPr>
              <a:t>Yu &amp; Barter Ch. 3</a:t>
            </a:r>
            <a:r>
              <a:rPr sz="1500">
                <a:solidFill>
                  <a:srgbClr val="1A1A1E"/>
                </a:solidFill>
                <a:latin typeface="Calibri"/>
              </a:rPr>
              <a:t> gives the discipline. Project structure, code, reproducibility.</a:t>
            </a:r>
          </a:p>
          <a:p>
            <a:pPr>
              <a:spcBef>
                <a:spcPts val="0"/>
              </a:spcBef>
              <a:spcAft>
                <a:spcPts val="1400"/>
              </a:spcAft>
            </a:pPr>
            <a:r>
              <a:rPr sz="1500" b="1">
                <a:solidFill>
                  <a:srgbClr val="C4960C"/>
                </a:solidFill>
                <a:latin typeface="Calibri"/>
              </a:rPr>
              <a:t>• </a:t>
            </a:r>
            <a:r>
              <a:rPr sz="1500" b="1">
                <a:solidFill>
                  <a:srgbClr val="1A1A1E"/>
                </a:solidFill>
                <a:latin typeface="Calibri"/>
              </a:rPr>
              <a:t>Box (1976)</a:t>
            </a:r>
            <a:r>
              <a:rPr sz="1500">
                <a:solidFill>
                  <a:srgbClr val="1A1A1E"/>
                </a:solidFill>
                <a:latin typeface="Calibri"/>
              </a:rPr>
              <a:t> supplies the philosophy the whole book is built on. Science is an iteration between theory and practice, and all models are wrong.</a:t>
            </a:r>
          </a:p>
          <a:p>
            <a:pPr>
              <a:spcBef>
                <a:spcPts val="0"/>
              </a:spcBef>
              <a:spcAft>
                <a:spcPts val="1400"/>
              </a:spcAft>
            </a:pPr>
            <a:r>
              <a:rPr sz="1500" b="1">
                <a:solidFill>
                  <a:srgbClr val="C4960C"/>
                </a:solidFill>
                <a:latin typeface="Calibri"/>
              </a:rPr>
              <a:t>• </a:t>
            </a:r>
            <a:r>
              <a:rPr sz="1500" b="1">
                <a:solidFill>
                  <a:srgbClr val="1A1A1E"/>
                </a:solidFill>
                <a:latin typeface="Calibri"/>
              </a:rPr>
              <a:t>DeGroot (1987)</a:t>
            </a:r>
            <a:r>
              <a:rPr sz="1500">
                <a:solidFill>
                  <a:srgbClr val="1A1A1E"/>
                </a:solidFill>
                <a:latin typeface="Calibri"/>
              </a:rPr>
              <a:t> shows that philosophy being lived. Box's own career is one long theory-practice loop.</a:t>
            </a:r>
          </a:p>
          <a:p>
            <a:pPr>
              <a:spcBef>
                <a:spcPts val="0"/>
              </a:spcBef>
              <a:spcAft>
                <a:spcPts val="1400"/>
              </a:spcAft>
            </a:pPr>
            <a:r>
              <a:rPr sz="1500" b="1">
                <a:solidFill>
                  <a:srgbClr val="C4960C"/>
                </a:solidFill>
                <a:latin typeface="Calibri"/>
              </a:rPr>
              <a:t>• </a:t>
            </a:r>
            <a:r>
              <a:rPr sz="1500" b="1">
                <a:solidFill>
                  <a:srgbClr val="1A1A1E"/>
                </a:solidFill>
                <a:latin typeface="Calibri"/>
              </a:rPr>
              <a:t>Wallis (1980)</a:t>
            </a:r>
            <a:r>
              <a:rPr sz="1500">
                <a:solidFill>
                  <a:srgbClr val="1A1A1E"/>
                </a:solidFill>
                <a:latin typeface="Calibri"/>
              </a:rPr>
              <a:t> is the historical case. Eighteen statisticians, a war, and a stopping rule that came out of an ordnance officer's complaint.</a:t>
            </a:r>
          </a:p>
        </p:txBody>
      </p:sp>
      <p:sp>
        <p:nvSpPr>
          <p:cNvPr id="8" name="Rectangle 7"/>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WHY THESE SIX, TOGETHER</a:t>
            </a:r>
          </a:p>
          <a:p>
            <a:pPr algn="l">
              <a:spcBef>
                <a:spcPts val="0"/>
              </a:spcBef>
              <a:spcAft>
                <a:spcPts val="0"/>
              </a:spcAft>
            </a:pPr>
            <a:r>
              <a:rPr sz="1400" b="1" i="0">
                <a:solidFill>
                  <a:srgbClr val="1A1A1E"/>
                </a:solidFill>
                <a:latin typeface="Calibri"/>
              </a:rPr>
              <a:t>Yu &amp; Barter formalize what Box argued and Wallis's group demonstrated. Methods earn their license from practice, not from elegance.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YU &amp; BARTER · CHAPTER 1</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Veridical data science and the three realms</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An Introduction to Veridical Data Science</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3/14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1100"/>
              </a:spcAft>
            </a:pPr>
            <a:r>
              <a:rPr sz="1450" b="1">
                <a:solidFill>
                  <a:srgbClr val="C4960C"/>
                </a:solidFill>
                <a:latin typeface="Calibri"/>
              </a:rPr>
              <a:t>• </a:t>
            </a:r>
            <a:r>
              <a:rPr sz="1450" b="1">
                <a:solidFill>
                  <a:srgbClr val="1A1A1E"/>
                </a:solidFill>
                <a:latin typeface="Calibri"/>
              </a:rPr>
              <a:t>Veridical means truthful.</a:t>
            </a:r>
            <a:r>
              <a:rPr sz="1450">
                <a:solidFill>
                  <a:srgbClr val="1A1A1E"/>
                </a:solidFill>
                <a:latin typeface="Calibri"/>
              </a:rPr>
              <a:t> Extract useful and trustworthy information from data to solve a real domain problem, using human judgment calls and domain knowledge.</a:t>
            </a:r>
          </a:p>
          <a:p>
            <a:pPr>
              <a:spcBef>
                <a:spcPts val="0"/>
              </a:spcBef>
              <a:spcAft>
                <a:spcPts val="1100"/>
              </a:spcAft>
            </a:pPr>
            <a:r>
              <a:rPr sz="1450" b="1">
                <a:solidFill>
                  <a:srgbClr val="C4960C"/>
                </a:solidFill>
                <a:latin typeface="Calibri"/>
              </a:rPr>
              <a:t>• </a:t>
            </a:r>
            <a:r>
              <a:rPr sz="1450" b="1">
                <a:solidFill>
                  <a:srgbClr val="1A1A1E"/>
                </a:solidFill>
                <a:latin typeface="Calibri"/>
              </a:rPr>
              <a:t>Three realms.</a:t>
            </a:r>
            <a:r>
              <a:rPr sz="1450">
                <a:solidFill>
                  <a:srgbClr val="1A1A1E"/>
                </a:solidFill>
                <a:latin typeface="Calibri"/>
              </a:rPr>
              <a:t> Reality, where we live. Data, an approximation of it. Algorithms, which are mental constructs. Trustworthiness depends on how strong the connections between them are.</a:t>
            </a:r>
          </a:p>
          <a:p>
            <a:pPr>
              <a:spcBef>
                <a:spcPts val="0"/>
              </a:spcBef>
              <a:spcAft>
                <a:spcPts val="1100"/>
              </a:spcAft>
            </a:pPr>
            <a:r>
              <a:rPr sz="1450" b="1">
                <a:solidFill>
                  <a:srgbClr val="C4960C"/>
                </a:solidFill>
                <a:latin typeface="Calibri"/>
              </a:rPr>
              <a:t>• </a:t>
            </a:r>
            <a:r>
              <a:rPr sz="1450" b="1">
                <a:solidFill>
                  <a:srgbClr val="1A1A1E"/>
                </a:solidFill>
                <a:latin typeface="Calibri"/>
              </a:rPr>
              <a:t>The gap is invisible.</a:t>
            </a:r>
            <a:r>
              <a:rPr sz="1450">
                <a:solidFill>
                  <a:srgbClr val="1A1A1E"/>
                </a:solidFill>
                <a:latin typeface="Calibri"/>
              </a:rPr>
              <a:t> Data will not tell you it misrepresents reality, and algorithms will not warn you they are being misused. Facial recognition trained mostly on light-skinned faces is the standard example.</a:t>
            </a:r>
          </a:p>
          <a:p>
            <a:pPr>
              <a:spcBef>
                <a:spcPts val="0"/>
              </a:spcBef>
              <a:spcAft>
                <a:spcPts val="1100"/>
              </a:spcAft>
            </a:pPr>
            <a:r>
              <a:rPr sz="1450" b="1">
                <a:solidFill>
                  <a:srgbClr val="C4960C"/>
                </a:solidFill>
                <a:latin typeface="Calibri"/>
              </a:rPr>
              <a:t>• </a:t>
            </a:r>
            <a:r>
              <a:rPr sz="1450" b="1">
                <a:solidFill>
                  <a:srgbClr val="1A1A1E"/>
                </a:solidFill>
                <a:latin typeface="Calibri"/>
              </a:rPr>
              <a:t>So do detective work.</a:t>
            </a:r>
            <a:r>
              <a:rPr sz="1450">
                <a:solidFill>
                  <a:srgbClr val="1A1A1E"/>
                </a:solidFill>
                <a:latin typeface="Calibri"/>
              </a:rPr>
              <a:t> Interrogate the domain question. Is it even the right question, and is it ethical? Interrogate the data. Where did it come from, and can you do the shoe-leather work? Interrogate the analysis. Are the assumptions reasonable?</a:t>
            </a:r>
          </a:p>
          <a:p>
            <a:pPr>
              <a:spcBef>
                <a:spcPts val="0"/>
              </a:spcBef>
              <a:spcAft>
                <a:spcPts val="1100"/>
              </a:spcAft>
            </a:pPr>
            <a:r>
              <a:rPr sz="1450" b="1">
                <a:solidFill>
                  <a:srgbClr val="C4960C"/>
                </a:solidFill>
                <a:latin typeface="Calibri"/>
              </a:rPr>
              <a:t>• </a:t>
            </a:r>
            <a:r>
              <a:rPr sz="1450" b="1">
                <a:solidFill>
                  <a:srgbClr val="1A1A1E"/>
                </a:solidFill>
                <a:latin typeface="Calibri"/>
              </a:rPr>
              <a:t>Guard against yourself.</a:t>
            </a:r>
            <a:r>
              <a:rPr sz="1450">
                <a:solidFill>
                  <a:srgbClr val="1A1A1E"/>
                </a:solidFill>
                <a:latin typeface="Calibri"/>
              </a:rPr>
              <a:t> Confirmation bias means you fail to scrutinize results that match your expectations. Desirability bias means you find what you think others want.</a:t>
            </a:r>
          </a:p>
        </p:txBody>
      </p:sp>
      <p:sp>
        <p:nvSpPr>
          <p:cNvPr id="9" name="Rectangle 8"/>
          <p:cNvSpPr/>
          <p:nvPr/>
        </p:nvSpPr>
        <p:spPr>
          <a:xfrm>
            <a:off x="777240" y="5724144"/>
            <a:ext cx="10637215" cy="71323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45720" cy="713232"/>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824728"/>
            <a:ext cx="10198303" cy="566928"/>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"There are three kinds of lies: lies, damned lies, and bad statistics." Most lying with data is unintentional.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YU &amp; BARTER · CHAPTER 1</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PCS: predictability, computability, stability</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4/14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1000"/>
              </a:spcAft>
            </a:pPr>
            <a:r>
              <a:rPr sz="1400" b="1">
                <a:solidFill>
                  <a:srgbClr val="C4960C"/>
                </a:solidFill>
                <a:latin typeface="Calibri"/>
              </a:rPr>
              <a:t>• </a:t>
            </a:r>
            <a:r>
              <a:rPr sz="1400" b="1">
                <a:solidFill>
                  <a:srgbClr val="1A1A1E"/>
                </a:solidFill>
                <a:latin typeface="Calibri"/>
              </a:rPr>
              <a:t>Predictability.</a:t>
            </a:r>
            <a:r>
              <a:rPr sz="1400">
                <a:solidFill>
                  <a:srgbClr val="1A1A1E"/>
                </a:solidFill>
                <a:latin typeface="Calibri"/>
              </a:rPr>
              <a:t> A reality check. Results should reappear in relevant future or external data, or match what the domain already knows. With no future data, split train, validation and test (roughly 60/20/20) before you explore. Choose a time-, group-, or random-based split that mirrors how the results will be used.</a:t>
            </a:r>
          </a:p>
          <a:p>
            <a:pPr>
              <a:spcBef>
                <a:spcPts val="0"/>
              </a:spcBef>
              <a:spcAft>
                <a:spcPts val="1000"/>
              </a:spcAft>
            </a:pPr>
            <a:r>
              <a:rPr sz="1400" b="1">
                <a:solidFill>
                  <a:srgbClr val="C4960C"/>
                </a:solidFill>
                <a:latin typeface="Calibri"/>
              </a:rPr>
              <a:t>• </a:t>
            </a:r>
            <a:r>
              <a:rPr sz="1400" b="1">
                <a:solidFill>
                  <a:srgbClr val="1A1A1E"/>
                </a:solidFill>
                <a:latin typeface="Calibri"/>
              </a:rPr>
              <a:t>Computability.</a:t>
            </a:r>
            <a:r>
              <a:rPr sz="1400">
                <a:solidFill>
                  <a:srgbClr val="1A1A1E"/>
                </a:solidFill>
                <a:latin typeface="Calibri"/>
              </a:rPr>
              <a:t> Mostly in the background. Computations should be clear, efficient, scalable and reproducible.</a:t>
            </a:r>
          </a:p>
          <a:p>
            <a:pPr>
              <a:spcBef>
                <a:spcPts val="0"/>
              </a:spcBef>
              <a:spcAft>
                <a:spcPts val="1000"/>
              </a:spcAft>
            </a:pPr>
            <a:r>
              <a:rPr sz="1400" b="1">
                <a:solidFill>
                  <a:srgbClr val="C4960C"/>
                </a:solidFill>
                <a:latin typeface="Calibri"/>
              </a:rPr>
              <a:t>• </a:t>
            </a:r>
            <a:r>
              <a:rPr sz="1400" b="1">
                <a:solidFill>
                  <a:srgbClr val="1A1A1E"/>
                </a:solidFill>
                <a:latin typeface="Calibri"/>
              </a:rPr>
              <a:t>Stability.</a:t>
            </a:r>
            <a:r>
              <a:rPr sz="1400">
                <a:solidFill>
                  <a:srgbClr val="1A1A1E"/>
                </a:solidFill>
                <a:latin typeface="Calibri"/>
              </a:rPr>
              <a:t> Think of a photograph. For every dataset you collected there are plausible alternatives you did not, and every cleaning and modeling choice is a judgment call. Results are stable if they survive reasonable perturbations to the data, the judgment calls, and the algorithm.</a:t>
            </a:r>
          </a:p>
          <a:p>
            <a:pPr>
              <a:spcBef>
                <a:spcPts val="0"/>
              </a:spcBef>
              <a:spcAft>
                <a:spcPts val="1000"/>
              </a:spcAft>
            </a:pPr>
            <a:r>
              <a:rPr sz="1400" b="1">
                <a:solidFill>
                  <a:srgbClr val="C4960C"/>
                </a:solidFill>
                <a:latin typeface="Calibri"/>
              </a:rPr>
              <a:t>• </a:t>
            </a:r>
            <a:r>
              <a:rPr sz="1400" b="1">
                <a:solidFill>
                  <a:srgbClr val="1A1A1E"/>
                </a:solidFill>
                <a:latin typeface="Calibri"/>
              </a:rPr>
              <a:t>PCS is not proof.</a:t>
            </a:r>
            <a:r>
              <a:rPr sz="1400">
                <a:solidFill>
                  <a:srgbClr val="1A1A1E"/>
                </a:solidFill>
                <a:latin typeface="Calibri"/>
              </a:rPr>
              <a:t> It echoes Popperian falsification. Each check is more evidence, never certainty.</a:t>
            </a:r>
          </a:p>
          <a:p>
            <a:pPr>
              <a:spcBef>
                <a:spcPts val="0"/>
              </a:spcBef>
              <a:spcAft>
                <a:spcPts val="1000"/>
              </a:spcAft>
            </a:pPr>
            <a:r>
              <a:rPr sz="1400" b="1">
                <a:solidFill>
                  <a:srgbClr val="C4960C"/>
                </a:solidFill>
                <a:latin typeface="Calibri"/>
              </a:rPr>
              <a:t>• </a:t>
            </a:r>
            <a:r>
              <a:rPr sz="1400" b="1">
                <a:solidFill>
                  <a:srgbClr val="1A1A1E"/>
                </a:solidFill>
                <a:latin typeface="Calibri"/>
              </a:rPr>
              <a:t>It merges two cultures.</a:t>
            </a:r>
            <a:r>
              <a:rPr sz="1400">
                <a:solidFill>
                  <a:srgbClr val="1A1A1E"/>
                </a:solidFill>
                <a:latin typeface="Calibri"/>
              </a:rPr>
              <a:t> Classical inference asks only how results vary under hypothetical resampling. ML asks only about held-out performance. PCS generalizes both. Breiman's two cultures, made one.</a:t>
            </a:r>
          </a:p>
        </p:txBody>
      </p:sp>
      <p:sp>
        <p:nvSpPr>
          <p:cNvPr id="8" name="Rectangle 7"/>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Stability widens uncertainty quantification to cover every human judgment call in the pipeline, not just sampling variability.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YU &amp; BARTER · CHAPTER 2</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The data science life cycle (DSLC)</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Six stages, and it is not a straight line</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5/14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800"/>
              </a:spcAft>
            </a:pPr>
            <a:r>
              <a:rPr sz="1350" b="1">
                <a:solidFill>
                  <a:srgbClr val="C4960C"/>
                </a:solidFill>
                <a:latin typeface="Calibri"/>
              </a:rPr>
              <a:t>• </a:t>
            </a:r>
            <a:r>
              <a:rPr sz="1350" b="1">
                <a:solidFill>
                  <a:srgbClr val="1A1A1E"/>
                </a:solidFill>
                <a:latin typeface="Calibri"/>
              </a:rPr>
              <a:t>1 · Problem formulation and data collection.</a:t>
            </a:r>
            <a:r>
              <a:rPr sz="1350">
                <a:solidFill>
                  <a:srgbClr val="1A1A1E"/>
                </a:solidFill>
                <a:latin typeface="Calibri"/>
              </a:rPr>
              <a:t> Reformulate a vague domain question into an answerable one. Take the hospital-infection example. "Why have HAI rates risen?" splits into a patient-risk question and a hygiene-practice question that need entirely different data. Prefer live data over dead data.</a:t>
            </a:r>
          </a:p>
          <a:p>
            <a:pPr>
              <a:spcBef>
                <a:spcPts val="0"/>
              </a:spcBef>
              <a:spcAft>
                <a:spcPts val="800"/>
              </a:spcAft>
            </a:pPr>
            <a:r>
              <a:rPr sz="1350" b="1">
                <a:solidFill>
                  <a:srgbClr val="C4960C"/>
                </a:solidFill>
                <a:latin typeface="Calibri"/>
              </a:rPr>
              <a:t>• </a:t>
            </a:r>
            <a:r>
              <a:rPr sz="1350" b="1">
                <a:solidFill>
                  <a:srgbClr val="1A1A1E"/>
                </a:solidFill>
                <a:latin typeface="Calibri"/>
              </a:rPr>
              <a:t>2 · Cleaning, preprocessing, EDA.</a:t>
            </a:r>
            <a:r>
              <a:rPr sz="1350">
                <a:solidFill>
                  <a:srgbClr val="1A1A1E"/>
                </a:solidFill>
                <a:latin typeface="Calibri"/>
              </a:rPr>
              <a:t> Make the data tidy, correctly typed and unambiguous. All of that is subjective. Then explore, then polish exploratory graphics into explanatory ones.</a:t>
            </a:r>
          </a:p>
          <a:p>
            <a:pPr>
              <a:spcBef>
                <a:spcPts val="0"/>
              </a:spcBef>
              <a:spcAft>
                <a:spcPts val="800"/>
              </a:spcAft>
            </a:pPr>
            <a:r>
              <a:rPr sz="1350" b="1">
                <a:solidFill>
                  <a:srgbClr val="C4960C"/>
                </a:solidFill>
                <a:latin typeface="Calibri"/>
              </a:rPr>
              <a:t>• </a:t>
            </a:r>
            <a:r>
              <a:rPr sz="1350" b="1">
                <a:solidFill>
                  <a:srgbClr val="1A1A1E"/>
                </a:solidFill>
                <a:latin typeface="Calibri"/>
              </a:rPr>
              <a:t>3 · Intrinsic structure (optional).</a:t>
            </a:r>
            <a:r>
              <a:rPr sz="1350">
                <a:solidFill>
                  <a:srgbClr val="1A1A1E"/>
                </a:solidFill>
                <a:latin typeface="Calibri"/>
              </a:rPr>
              <a:t> Dimensionality reduction and clustering.</a:t>
            </a:r>
          </a:p>
          <a:p>
            <a:pPr>
              <a:spcBef>
                <a:spcPts val="0"/>
              </a:spcBef>
              <a:spcAft>
                <a:spcPts val="800"/>
              </a:spcAft>
            </a:pPr>
            <a:r>
              <a:rPr sz="1350" b="1">
                <a:solidFill>
                  <a:srgbClr val="C4960C"/>
                </a:solidFill>
                <a:latin typeface="Calibri"/>
              </a:rPr>
              <a:t>• </a:t>
            </a:r>
            <a:r>
              <a:rPr sz="1350" b="1">
                <a:solidFill>
                  <a:srgbClr val="1A1A1E"/>
                </a:solidFill>
                <a:latin typeface="Calibri"/>
              </a:rPr>
              <a:t>4 · Prediction and inference (optional).</a:t>
            </a:r>
            <a:r>
              <a:rPr sz="1350">
                <a:solidFill>
                  <a:srgbClr val="1A1A1E"/>
                </a:solidFill>
                <a:latin typeface="Calibri"/>
              </a:rPr>
              <a:t> Supervised learning, or classical estimation and testing.</a:t>
            </a:r>
          </a:p>
          <a:p>
            <a:pPr>
              <a:spcBef>
                <a:spcPts val="0"/>
              </a:spcBef>
              <a:spcAft>
                <a:spcPts val="800"/>
              </a:spcAft>
            </a:pPr>
            <a:r>
              <a:rPr sz="1350" b="1">
                <a:solidFill>
                  <a:srgbClr val="C4960C"/>
                </a:solidFill>
                <a:latin typeface="Calibri"/>
              </a:rPr>
              <a:t>• </a:t>
            </a:r>
            <a:r>
              <a:rPr sz="1350" b="1">
                <a:solidFill>
                  <a:srgbClr val="1A1A1E"/>
                </a:solidFill>
                <a:latin typeface="Calibri"/>
              </a:rPr>
              <a:t>5 · Evaluation.</a:t>
            </a:r>
            <a:r>
              <a:rPr sz="1350">
                <a:solidFill>
                  <a:srgbClr val="1A1A1E"/>
                </a:solidFill>
                <a:latin typeface="Calibri"/>
              </a:rPr>
              <a:t> Critical thinking plus PCS. Use a negative control, showing experts fake results alongside real ones, to blunt confirmation bias.</a:t>
            </a:r>
          </a:p>
          <a:p>
            <a:pPr>
              <a:spcBef>
                <a:spcPts val="0"/>
              </a:spcBef>
              <a:spcAft>
                <a:spcPts val="800"/>
              </a:spcAft>
            </a:pPr>
            <a:r>
              <a:rPr sz="1350" b="1">
                <a:solidFill>
                  <a:srgbClr val="C4960C"/>
                </a:solidFill>
                <a:latin typeface="Calibri"/>
              </a:rPr>
              <a:t>• </a:t>
            </a:r>
            <a:r>
              <a:rPr sz="1350" b="1">
                <a:solidFill>
                  <a:srgbClr val="1A1A1E"/>
                </a:solidFill>
                <a:latin typeface="Calibri"/>
              </a:rPr>
              <a:t>6 · Communication.</a:t>
            </a:r>
            <a:r>
              <a:rPr sz="1350">
                <a:solidFill>
                  <a:srgbClr val="1A1A1E"/>
                </a:solidFill>
                <a:latin typeface="Calibri"/>
              </a:rPr>
              <a:t> Tailor it to the audience. Getting results into production is usually the real goal.</a:t>
            </a:r>
          </a:p>
        </p:txBody>
      </p:sp>
      <p:sp>
        <p:nvSpPr>
          <p:cNvPr id="9" name="Rectangle 8"/>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PCS answers data snooping with evidence rather than preregistration. Search freely, then show the finding is predictable and stable.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YU &amp; BARTER · CHAPTER 3</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Project setup and reproducibility</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Structure and discipline as prerequisites for trust</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6/14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800"/>
              </a:spcAft>
            </a:pPr>
            <a:r>
              <a:rPr sz="1350" b="1">
                <a:solidFill>
                  <a:srgbClr val="C4960C"/>
                </a:solidFill>
                <a:latin typeface="Calibri"/>
              </a:rPr>
              <a:t>• </a:t>
            </a:r>
            <a:r>
              <a:rPr sz="1350" b="1">
                <a:solidFill>
                  <a:srgbClr val="1A1A1E"/>
                </a:solidFill>
                <a:latin typeface="Calibri"/>
              </a:rPr>
              <a:t>Project structure.</a:t>
            </a:r>
            <a:r>
              <a:rPr sz="1350">
                <a:solidFill>
                  <a:srgbClr val="1A1A1E"/>
                </a:solidFill>
                <a:latin typeface="Calibri"/>
              </a:rPr>
              <a:t> A data/ folder holds the raw file plus documentation. A dslc_documentation/ folder holds numbered .qmd or .ipynb files, one per DSLC stage, with a functions/ subfolder. A README.md ties it together. R or Python both work. The authors lean R and say neither is universally better.</a:t>
            </a:r>
          </a:p>
          <a:p>
            <a:pPr>
              <a:spcBef>
                <a:spcPts val="0"/>
              </a:spcBef>
              <a:spcAft>
                <a:spcPts val="800"/>
              </a:spcAft>
            </a:pPr>
            <a:r>
              <a:rPr sz="1350" b="1">
                <a:solidFill>
                  <a:srgbClr val="C4960C"/>
                </a:solidFill>
                <a:latin typeface="Calibri"/>
              </a:rPr>
              <a:t>• </a:t>
            </a:r>
            <a:r>
              <a:rPr sz="1350" b="1">
                <a:solidFill>
                  <a:srgbClr val="1A1A1E"/>
                </a:solidFill>
                <a:latin typeface="Calibri"/>
              </a:rPr>
              <a:t>Code habits.</a:t>
            </a:r>
            <a:r>
              <a:rPr sz="1350">
                <a:solidFill>
                  <a:srgbClr val="1A1A1E"/>
                </a:solidFill>
                <a:latin typeface="Calibri"/>
              </a:rPr>
              <a:t> Do not repeat yourself. Follow a style guide, tidyverse or PEP 8. Comment liberally, test, and get your code reviewed.</a:t>
            </a:r>
          </a:p>
          <a:p>
            <a:pPr>
              <a:spcBef>
                <a:spcPts val="0"/>
              </a:spcBef>
              <a:spcAft>
                <a:spcPts val="800"/>
              </a:spcAft>
            </a:pPr>
            <a:r>
              <a:rPr sz="1350" b="1">
                <a:solidFill>
                  <a:srgbClr val="C4960C"/>
                </a:solidFill>
                <a:latin typeface="Calibri"/>
              </a:rPr>
              <a:t>• </a:t>
            </a:r>
            <a:r>
              <a:rPr sz="1350" b="1">
                <a:solidFill>
                  <a:srgbClr val="1A1A1E"/>
                </a:solidFill>
                <a:latin typeface="Calibri"/>
              </a:rPr>
              <a:t>Write cleaning as a function</a:t>
            </a:r>
            <a:r>
              <a:rPr sz="1350">
                <a:solidFill>
                  <a:srgbClr val="1A1A1E"/>
                </a:solidFill>
                <a:latin typeface="Calibri"/>
              </a:rPr>
              <a:t> with the judgment calls as arguments. That is what makes a stability analysis cheap instead of a copy-paste nightmare.</a:t>
            </a:r>
          </a:p>
          <a:p>
            <a:pPr>
              <a:spcBef>
                <a:spcPts val="0"/>
              </a:spcBef>
              <a:spcAft>
                <a:spcPts val="800"/>
              </a:spcAft>
            </a:pPr>
            <a:r>
              <a:rPr sz="1350" b="1">
                <a:solidFill>
                  <a:srgbClr val="C4960C"/>
                </a:solidFill>
                <a:latin typeface="Calibri"/>
              </a:rPr>
              <a:t>• </a:t>
            </a:r>
            <a:r>
              <a:rPr sz="1350" b="1">
                <a:solidFill>
                  <a:srgbClr val="1A1A1E"/>
                </a:solidFill>
                <a:latin typeface="Calibri"/>
              </a:rPr>
              <a:t>Never hand-edit raw data.</a:t>
            </a:r>
            <a:r>
              <a:rPr sz="1350">
                <a:solidFill>
                  <a:srgbClr val="1A1A1E"/>
                </a:solidFill>
                <a:latin typeface="Calibri"/>
              </a:rPr>
              <a:t> Re-run cleaning from the raw file at the top of every analysis file, rather than saving a cleaned .csv whose provenance is invisible.</a:t>
            </a:r>
          </a:p>
          <a:p>
            <a:pPr>
              <a:spcBef>
                <a:spcPts val="0"/>
              </a:spcBef>
              <a:spcAft>
                <a:spcPts val="800"/>
              </a:spcAft>
            </a:pPr>
            <a:r>
              <a:rPr sz="1350" b="1">
                <a:solidFill>
                  <a:srgbClr val="C4960C"/>
                </a:solidFill>
                <a:latin typeface="Calibri"/>
              </a:rPr>
              <a:t>• </a:t>
            </a:r>
            <a:r>
              <a:rPr sz="1350" b="1">
                <a:solidFill>
                  <a:srgbClr val="1A1A1E"/>
                </a:solidFill>
                <a:latin typeface="Calibri"/>
              </a:rPr>
              <a:t>The cautionary tale.</a:t>
            </a:r>
            <a:r>
              <a:rPr sz="1350">
                <a:solidFill>
                  <a:srgbClr val="1A1A1E"/>
                </a:solidFill>
                <a:latin typeface="Calibri"/>
              </a:rPr>
              <a:t> Reinhart and Rogoff (2010) had Excel errors and thin documentation. Herndon and colleagues got the opposite result. More broadly, only about a third to two thirds of published results reproduce.</a:t>
            </a:r>
          </a:p>
          <a:p>
            <a:pPr>
              <a:spcBef>
                <a:spcPts val="0"/>
              </a:spcBef>
              <a:spcAft>
                <a:spcPts val="800"/>
              </a:spcAft>
            </a:pPr>
            <a:r>
              <a:rPr sz="1350" b="1">
                <a:solidFill>
                  <a:srgbClr val="C4960C"/>
                </a:solidFill>
                <a:latin typeface="Calibri"/>
              </a:rPr>
              <a:t>• </a:t>
            </a:r>
            <a:r>
              <a:rPr sz="1350" b="1">
                <a:solidFill>
                  <a:srgbClr val="1A1A1E"/>
                </a:solidFill>
                <a:latin typeface="Calibri"/>
              </a:rPr>
              <a:t>Reproducibility is a spectrum,</a:t>
            </a:r>
            <a:r>
              <a:rPr sz="1350">
                <a:solidFill>
                  <a:srgbClr val="1A1A1E"/>
                </a:solidFill>
                <a:latin typeface="Calibri"/>
              </a:rPr>
              <a:t> and every rung is a PCS assessment. Same code, same machine is the weak end. Then new code and a new person. Then an independent team with new data, which is predictability and stability together.</a:t>
            </a:r>
          </a:p>
        </p:txBody>
      </p:sp>
      <p:sp>
        <p:nvSpPr>
          <p:cNvPr id="9" name="Rectangle 8"/>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Reproducibility is not a separate virtue bolted on at the end. It is stability, measured against code, machine and analyst.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BOX (1976)</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The argument in Science and Statistics</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JASA 71(356):791-799. The R. A. Fisher Memorial Lecture.</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7/14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1000"/>
              </a:spcAft>
            </a:pPr>
            <a:r>
              <a:rPr sz="1400" b="1">
                <a:solidFill>
                  <a:srgbClr val="C4960C"/>
                </a:solidFill>
                <a:latin typeface="Calibri"/>
              </a:rPr>
              <a:t>• </a:t>
            </a:r>
            <a:r>
              <a:rPr sz="1400" b="1">
                <a:solidFill>
                  <a:srgbClr val="1A1A1E"/>
                </a:solidFill>
                <a:latin typeface="Calibri"/>
              </a:rPr>
              <a:t>Iteration between theory and practice.</a:t>
            </a:r>
            <a:r>
              <a:rPr sz="1400">
                <a:solidFill>
                  <a:srgbClr val="1A1A1E"/>
                </a:solidFill>
                <a:latin typeface="Calibri"/>
              </a:rPr>
              <a:t> Learning advances neither by pure speculation nor by piling up facts, but by a motivated loop. Facts suggest a tentative theory, deductions clash with facts, the theory is modified, repeat.</a:t>
            </a:r>
          </a:p>
          <a:p>
            <a:pPr>
              <a:spcBef>
                <a:spcPts val="0"/>
              </a:spcBef>
              <a:spcAft>
                <a:spcPts val="1000"/>
              </a:spcAft>
            </a:pPr>
            <a:r>
              <a:rPr sz="1400" b="1">
                <a:solidFill>
                  <a:srgbClr val="C4960C"/>
                </a:solidFill>
                <a:latin typeface="Calibri"/>
              </a:rPr>
              <a:t>• </a:t>
            </a:r>
            <a:r>
              <a:rPr sz="1400" b="1">
                <a:solidFill>
                  <a:srgbClr val="1A1A1E"/>
                </a:solidFill>
                <a:latin typeface="Calibri"/>
              </a:rPr>
              <a:t>Flexibility.</a:t>
            </a:r>
            <a:r>
              <a:rPr sz="1400">
                <a:solidFill>
                  <a:srgbClr val="1A1A1E"/>
                </a:solidFill>
                <a:latin typeface="Calibri"/>
              </a:rPr>
              <a:t> In a feedback loop it is the error signal that teaches. The good scientist seeks out and exploits discrepancies, especially his own. "He must not be like Pygmalion and fall in love with his model."</a:t>
            </a:r>
          </a:p>
          <a:p>
            <a:pPr>
              <a:spcBef>
                <a:spcPts val="0"/>
              </a:spcBef>
              <a:spcAft>
                <a:spcPts val="1000"/>
              </a:spcAft>
            </a:pPr>
            <a:r>
              <a:rPr sz="1400" b="1">
                <a:solidFill>
                  <a:srgbClr val="C4960C"/>
                </a:solidFill>
                <a:latin typeface="Calibri"/>
              </a:rPr>
              <a:t>• </a:t>
            </a:r>
            <a:r>
              <a:rPr sz="1400" b="1">
                <a:solidFill>
                  <a:srgbClr val="1A1A1E"/>
                </a:solidFill>
                <a:latin typeface="Calibri"/>
              </a:rPr>
              <a:t>Parsimony.</a:t>
            </a:r>
            <a:r>
              <a:rPr sz="1400">
                <a:solidFill>
                  <a:srgbClr val="1A1A1E"/>
                </a:solidFill>
                <a:latin typeface="Calibri"/>
              </a:rPr>
              <a:t> "Since all models are wrong the scientist cannot obtain a 'correct' one by excessive elaboration." Overparameterization is the mark of mediocrity.</a:t>
            </a:r>
          </a:p>
          <a:p>
            <a:pPr>
              <a:spcBef>
                <a:spcPts val="0"/>
              </a:spcBef>
              <a:spcAft>
                <a:spcPts val="1000"/>
              </a:spcAft>
            </a:pPr>
            <a:r>
              <a:rPr sz="1400" b="1">
                <a:solidFill>
                  <a:srgbClr val="C4960C"/>
                </a:solidFill>
                <a:latin typeface="Calibri"/>
              </a:rPr>
              <a:t>• </a:t>
            </a:r>
            <a:r>
              <a:rPr sz="1400" b="1">
                <a:solidFill>
                  <a:srgbClr val="1A1A1E"/>
                </a:solidFill>
                <a:latin typeface="Calibri"/>
              </a:rPr>
              <a:t>Worry selectively.</a:t>
            </a:r>
            <a:r>
              <a:rPr sz="1400">
                <a:solidFill>
                  <a:srgbClr val="1A1A1E"/>
                </a:solidFill>
                <a:latin typeface="Calibri"/>
              </a:rPr>
              <a:t> "Since all models are wrong the scientist must be alert to what is importantly wrong. It is inappropriate to be concerned about mice when there are tigers abroad."</a:t>
            </a:r>
          </a:p>
          <a:p>
            <a:pPr>
              <a:spcBef>
                <a:spcPts val="0"/>
              </a:spcBef>
              <a:spcAft>
                <a:spcPts val="1000"/>
              </a:spcAft>
            </a:pPr>
            <a:r>
              <a:rPr sz="1400" b="1">
                <a:solidFill>
                  <a:srgbClr val="C4960C"/>
                </a:solidFill>
                <a:latin typeface="Calibri"/>
              </a:rPr>
              <a:t>• </a:t>
            </a:r>
            <a:r>
              <a:rPr sz="1400" b="1">
                <a:solidFill>
                  <a:srgbClr val="1A1A1E"/>
                </a:solidFill>
                <a:latin typeface="Calibri"/>
              </a:rPr>
              <a:t>Mathematics is conditional.</a:t>
            </a:r>
            <a:r>
              <a:rPr sz="1400">
                <a:solidFill>
                  <a:srgbClr val="1A1A1E"/>
                </a:solidFill>
                <a:latin typeface="Calibri"/>
              </a:rPr>
              <a:t> There never was a normal distribution or a straight line in nature. Yet assumptions known to be false still yield useful approximations. You cannot know a technique is useful unless you use it.</a:t>
            </a:r>
          </a:p>
        </p:txBody>
      </p:sp>
      <p:sp>
        <p:nvSpPr>
          <p:cNvPr id="9" name="Rectangle 8"/>
          <p:cNvSpPr/>
          <p:nvPr/>
        </p:nvSpPr>
        <p:spPr>
          <a:xfrm>
            <a:off x="777240" y="5724144"/>
            <a:ext cx="10637215" cy="71323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45720" cy="713232"/>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824728"/>
            <a:ext cx="10198303" cy="566928"/>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The famous half-quote in full. All models are wrong, so be parsimonious and worry about the tigers.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BOX (1976)</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Fisher as evidence; cookbookery and mathematistry</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8/14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900"/>
              </a:spcAft>
            </a:pPr>
            <a:r>
              <a:rPr sz="1350" b="1">
                <a:solidFill>
                  <a:srgbClr val="C4960C"/>
                </a:solidFill>
                <a:latin typeface="Calibri"/>
              </a:rPr>
              <a:t>• </a:t>
            </a:r>
            <a:r>
              <a:rPr sz="1350" b="1">
                <a:solidFill>
                  <a:srgbClr val="1A1A1E"/>
                </a:solidFill>
                <a:latin typeface="Calibri"/>
              </a:rPr>
              <a:t>Fisher at Rothamsted, 1919-1928,</a:t>
            </a:r>
            <a:r>
              <a:rPr sz="1350">
                <a:solidFill>
                  <a:srgbClr val="1A1A1E"/>
                </a:solidFill>
                <a:latin typeface="Calibri"/>
              </a:rPr>
              <a:t> is the worked example. Analyzing old Broadbalk records led to orthogonal polynomials and residual analysis. Rainfall and yield led to distributed-lag models. Eden's potato trial produced the analysis of variance. The deficiencies of that trial produced randomization, replication, blocking, factorials and confounding.</a:t>
            </a:r>
          </a:p>
          <a:p>
            <a:pPr>
              <a:spcBef>
                <a:spcPts val="0"/>
              </a:spcBef>
              <a:spcAft>
                <a:spcPts val="900"/>
              </a:spcAft>
            </a:pPr>
            <a:r>
              <a:rPr sz="1350" b="1">
                <a:solidFill>
                  <a:srgbClr val="C4960C"/>
                </a:solidFill>
                <a:latin typeface="Calibri"/>
              </a:rPr>
              <a:t>• </a:t>
            </a:r>
            <a:r>
              <a:rPr sz="1350" b="1">
                <a:solidFill>
                  <a:srgbClr val="1A1A1E"/>
                </a:solidFill>
                <a:latin typeface="Calibri"/>
              </a:rPr>
              <a:t>The everyday was his raw material.</a:t>
            </a:r>
            <a:r>
              <a:rPr sz="1350">
                <a:solidFill>
                  <a:srgbClr val="1A1A1E"/>
                </a:solidFill>
                <a:latin typeface="Calibri"/>
              </a:rPr>
              <a:t> The growth curve in Statistical Methods is his own son. The lady tasting tea was Dr. Muriel Bristol at the Rothamsted tea urn. Tippett's cotton-yarn problem became extreme value theory.</a:t>
            </a:r>
          </a:p>
          <a:p>
            <a:pPr>
              <a:spcBef>
                <a:spcPts val="0"/>
              </a:spcBef>
              <a:spcAft>
                <a:spcPts val="900"/>
              </a:spcAft>
            </a:pPr>
            <a:r>
              <a:rPr sz="1350" b="1">
                <a:solidFill>
                  <a:srgbClr val="C4960C"/>
                </a:solidFill>
                <a:latin typeface="Calibri"/>
              </a:rPr>
              <a:t>• </a:t>
            </a:r>
            <a:r>
              <a:rPr sz="1350" b="1">
                <a:solidFill>
                  <a:srgbClr val="1A1A1E"/>
                </a:solidFill>
                <a:latin typeface="Calibri"/>
              </a:rPr>
              <a:t>A new role for the statistician.</a:t>
            </a:r>
            <a:r>
              <a:rPr sz="1350">
                <a:solidFill>
                  <a:srgbClr val="1A1A1E"/>
                </a:solidFill>
                <a:latin typeface="Calibri"/>
              </a:rPr>
              <a:t> "The statistician's job did not begin when all the work was over. It began long before it was started." Architect, not curator of dusty relics.</a:t>
            </a:r>
          </a:p>
          <a:p>
            <a:pPr>
              <a:spcBef>
                <a:spcPts val="0"/>
              </a:spcBef>
              <a:spcAft>
                <a:spcPts val="900"/>
              </a:spcAft>
            </a:pPr>
            <a:r>
              <a:rPr sz="1350" b="1">
                <a:solidFill>
                  <a:srgbClr val="C4960C"/>
                </a:solidFill>
                <a:latin typeface="Calibri"/>
              </a:rPr>
              <a:t>• </a:t>
            </a:r>
            <a:r>
              <a:rPr sz="1350" b="1">
                <a:solidFill>
                  <a:srgbClr val="1A1A1E"/>
                </a:solidFill>
                <a:latin typeface="Calibri"/>
              </a:rPr>
              <a:t>Perils of the open loop.</a:t>
            </a:r>
            <a:r>
              <a:rPr sz="1350">
                <a:solidFill>
                  <a:srgbClr val="1A1A1E"/>
                </a:solidFill>
                <a:latin typeface="Calibri"/>
              </a:rPr>
              <a:t> Cookbookery forces every problem into one or two routine techniques. Mathematistry is theory for theory's sake, which redefines the problem rather than solving it, and which non-statisticians take seriously because they distrust their own common sense.</a:t>
            </a:r>
          </a:p>
          <a:p>
            <a:pPr>
              <a:spcBef>
                <a:spcPts val="0"/>
              </a:spcBef>
              <a:spcAft>
                <a:spcPts val="900"/>
              </a:spcAft>
            </a:pPr>
            <a:r>
              <a:rPr sz="1350" b="1">
                <a:solidFill>
                  <a:srgbClr val="C4960C"/>
                </a:solidFill>
                <a:latin typeface="Calibri"/>
              </a:rPr>
              <a:t>• </a:t>
            </a:r>
            <a:r>
              <a:rPr sz="1350" b="1">
                <a:solidFill>
                  <a:srgbClr val="1A1A1E"/>
                </a:solidFill>
                <a:latin typeface="Calibri"/>
              </a:rPr>
              <a:t>The conclusion.</a:t>
            </a:r>
            <a:r>
              <a:rPr sz="1350">
                <a:solidFill>
                  <a:srgbClr val="1A1A1E"/>
                </a:solidFill>
                <a:latin typeface="Calibri"/>
              </a:rPr>
              <a:t> Was Fisher an applied statistician, a mathematical statistician, a data analyst, a designer of investigations? "It is surely because he was all of these that he was much more than the sum of the parts."</a:t>
            </a:r>
          </a:p>
        </p:txBody>
      </p:sp>
      <p:sp>
        <p:nvSpPr>
          <p:cNvPr id="8" name="Rectangle 7"/>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Train neither theorem-provers nor cookbook users. Statisticians must learn to be good scientists, a talent acquired by experience and example.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DEGROOT (1987)</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The arc of the conversation</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Statistical Science 2(3):239-258. Interviewed at the 1986 joint meetings.</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9/14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900"/>
              </a:spcAft>
            </a:pPr>
            <a:r>
              <a:rPr sz="1350" b="1">
                <a:solidFill>
                  <a:srgbClr val="C4960C"/>
                </a:solidFill>
                <a:latin typeface="Calibri"/>
              </a:rPr>
              <a:t>• </a:t>
            </a:r>
            <a:r>
              <a:rPr sz="1350" b="1">
                <a:solidFill>
                  <a:srgbClr val="1A1A1E"/>
                </a:solidFill>
                <a:latin typeface="Calibri"/>
              </a:rPr>
              <a:t>A statistician by accident.</a:t>
            </a:r>
            <a:r>
              <a:rPr sz="1350">
                <a:solidFill>
                  <a:srgbClr val="1A1A1E"/>
                </a:solidFill>
                <a:latin typeface="Calibri"/>
              </a:rPr>
              <a:t> British Army chemical defense station, WWII. Told there was no statistician available and asked "What do you know about it?", he taught himself from Fisher at night and ran the next day's experiments by morning. Graeco-Latin squares on the arms of volunteers burned with mustard gas.</a:t>
            </a:r>
          </a:p>
          <a:p>
            <a:pPr>
              <a:spcBef>
                <a:spcPts val="0"/>
              </a:spcBef>
              <a:spcAft>
                <a:spcPts val="900"/>
              </a:spcAft>
            </a:pPr>
            <a:r>
              <a:rPr sz="1350" b="1">
                <a:solidFill>
                  <a:srgbClr val="C4960C"/>
                </a:solidFill>
                <a:latin typeface="Calibri"/>
              </a:rPr>
              <a:t>• </a:t>
            </a:r>
            <a:r>
              <a:rPr sz="1350" b="1">
                <a:solidFill>
                  <a:srgbClr val="1A1A1E"/>
                </a:solidFill>
                <a:latin typeface="Calibri"/>
              </a:rPr>
              <a:t>Learning by doing.</a:t>
            </a:r>
            <a:r>
              <a:rPr sz="1350">
                <a:solidFill>
                  <a:srgbClr val="1A1A1E"/>
                </a:solidFill>
                <a:latin typeface="Calibri"/>
              </a:rPr>
              <a:t> "Mostly what I knew about experimental design I knew from the Army, because learning by doing is the only way I ever learn anything." A degree at University College after the war, and a PhD only in 1952, once the papers were already published.</a:t>
            </a:r>
          </a:p>
          <a:p>
            <a:pPr>
              <a:spcBef>
                <a:spcPts val="0"/>
              </a:spcBef>
              <a:spcAft>
                <a:spcPts val="900"/>
              </a:spcAft>
            </a:pPr>
            <a:r>
              <a:rPr sz="1350" b="1">
                <a:solidFill>
                  <a:srgbClr val="C4960C"/>
                </a:solidFill>
                <a:latin typeface="Calibri"/>
              </a:rPr>
              <a:t>• </a:t>
            </a:r>
            <a:r>
              <a:rPr sz="1350" b="1">
                <a:solidFill>
                  <a:srgbClr val="1A1A1E"/>
                </a:solidFill>
                <a:latin typeface="Calibri"/>
              </a:rPr>
              <a:t>ICI, 1948 to 1956.</a:t>
            </a:r>
            <a:r>
              <a:rPr sz="1350">
                <a:solidFill>
                  <a:srgbClr val="1A1A1E"/>
                </a:solidFill>
                <a:latin typeface="Calibri"/>
              </a:rPr>
              <a:t> The rubber lab was "a wonderful place for designed experiments." Machines that misbehaved, a heavy-tailed wear-tester and serially correlated readings, pushed him into robustness, quadratic forms and likelihood-ratio distributions.</a:t>
            </a:r>
          </a:p>
          <a:p>
            <a:pPr>
              <a:spcBef>
                <a:spcPts val="0"/>
              </a:spcBef>
              <a:spcAft>
                <a:spcPts val="900"/>
              </a:spcAft>
            </a:pPr>
            <a:r>
              <a:rPr sz="1350" b="1">
                <a:solidFill>
                  <a:srgbClr val="C4960C"/>
                </a:solidFill>
                <a:latin typeface="Calibri"/>
              </a:rPr>
              <a:t>• </a:t>
            </a:r>
            <a:r>
              <a:rPr sz="1350" b="1">
                <a:solidFill>
                  <a:srgbClr val="1A1A1E"/>
                </a:solidFill>
                <a:latin typeface="Calibri"/>
              </a:rPr>
              <a:t>Response surfaces.</a:t>
            </a:r>
            <a:r>
              <a:rPr sz="1350">
                <a:solidFill>
                  <a:srgbClr val="1A1A1E"/>
                </a:solidFill>
                <a:latin typeface="Calibri"/>
              </a:rPr>
              <a:t> Steepest ascent with K. B. Wilson. Then a full-scale 2^3 came back with tiny main effects and huge interactions. Rather than give up, he added center and axial points, inventing the composite design on the spot, and found the process sat on a ridge. Rotatability followed with Stu Hunter.</a:t>
            </a:r>
          </a:p>
          <a:p>
            <a:pPr>
              <a:spcBef>
                <a:spcPts val="0"/>
              </a:spcBef>
              <a:spcAft>
                <a:spcPts val="900"/>
              </a:spcAft>
            </a:pPr>
            <a:r>
              <a:rPr sz="1350" b="1">
                <a:solidFill>
                  <a:srgbClr val="C4960C"/>
                </a:solidFill>
                <a:latin typeface="Calibri"/>
              </a:rPr>
              <a:t>• </a:t>
            </a:r>
            <a:r>
              <a:rPr sz="1350" b="1">
                <a:solidFill>
                  <a:srgbClr val="1A1A1E"/>
                </a:solidFill>
                <a:latin typeface="Calibri"/>
              </a:rPr>
              <a:t>Then Princeton, 1957 to 1959, and Madison,</a:t>
            </a:r>
            <a:r>
              <a:rPr sz="1350">
                <a:solidFill>
                  <a:srgbClr val="1A1A1E"/>
                </a:solidFill>
                <a:latin typeface="Calibri"/>
              </a:rPr>
              <a:t> where he founded the department in 1960 and insisted on genuine joint appointments with medicine, engineering and business.</a:t>
            </a:r>
          </a:p>
        </p:txBody>
      </p:sp>
      <p:sp>
        <p:nvSpPr>
          <p:cNvPr id="9" name="Rectangle 8"/>
          <p:cNvSpPr/>
          <p:nvPr/>
        </p:nvSpPr>
        <p:spPr>
          <a:xfrm>
            <a:off x="777240" y="5486400"/>
            <a:ext cx="10637215" cy="950976"/>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86400"/>
            <a:ext cx="45720" cy="950976"/>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586984"/>
            <a:ext cx="10198303" cy="804672"/>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Every method he is famous for came out of a concrete problem that refused to behave. The loop from the 1976 paper, run on his own life.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DEGROOT (1987)</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What Box actually believes</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10/14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700"/>
              </a:spcAft>
            </a:pPr>
            <a:r>
              <a:rPr sz="1300" b="1">
                <a:solidFill>
                  <a:srgbClr val="C4960C"/>
                </a:solidFill>
                <a:latin typeface="Calibri"/>
              </a:rPr>
              <a:t>• </a:t>
            </a:r>
            <a:r>
              <a:rPr sz="1300" b="1">
                <a:solidFill>
                  <a:srgbClr val="1A1A1E"/>
                </a:solidFill>
                <a:latin typeface="Calibri"/>
              </a:rPr>
              <a:t>Only half Bayesian.</a:t>
            </a:r>
            <a:r>
              <a:rPr sz="1300">
                <a:solidFill>
                  <a:srgbClr val="1A1A1E"/>
                </a:solidFill>
                <a:latin typeface="Calibri"/>
              </a:rPr>
              <a:t> Two different kinds of inference are needed. Model plus data, meaning estimation given the model, is best done by Bayes. Model minus data, meaning residuals and diagnostics and tests of fit, must rest on repeated sampling, "because that's the only way that in any absolute sense you can discredit the model."</a:t>
            </a:r>
          </a:p>
          <a:p>
            <a:pPr>
              <a:spcBef>
                <a:spcPts val="0"/>
              </a:spcBef>
              <a:spcAft>
                <a:spcPts val="700"/>
              </a:spcAft>
            </a:pPr>
            <a:r>
              <a:rPr sz="1300" b="1">
                <a:solidFill>
                  <a:srgbClr val="C4960C"/>
                </a:solidFill>
                <a:latin typeface="Calibri"/>
              </a:rPr>
              <a:t>• </a:t>
            </a:r>
            <a:r>
              <a:rPr sz="1300" b="1">
                <a:solidFill>
                  <a:srgbClr val="1A1A1E"/>
                </a:solidFill>
                <a:latin typeface="Calibri"/>
              </a:rPr>
              <a:t>Criticism is the creative half.</a:t>
            </a:r>
            <a:r>
              <a:rPr sz="1300">
                <a:solidFill>
                  <a:srgbClr val="1A1A1E"/>
                </a:solidFill>
                <a:latin typeface="Calibri"/>
              </a:rPr>
              <a:t> "Everything else is just deduction, finding things which were latent in what you already knew." Looking at discrepancies is where something new gets made. Statisticians have not thought about this enough, "and to the extent they haven't, they have not served science very well."</a:t>
            </a:r>
          </a:p>
          <a:p>
            <a:pPr>
              <a:spcBef>
                <a:spcPts val="0"/>
              </a:spcBef>
              <a:spcAft>
                <a:spcPts val="700"/>
              </a:spcAft>
            </a:pPr>
            <a:r>
              <a:rPr sz="1300" b="1">
                <a:solidFill>
                  <a:srgbClr val="C4960C"/>
                </a:solidFill>
                <a:latin typeface="Calibri"/>
              </a:rPr>
              <a:t>• </a:t>
            </a:r>
            <a:r>
              <a:rPr sz="1300" b="1">
                <a:solidFill>
                  <a:srgbClr val="1A1A1E"/>
                </a:solidFill>
                <a:latin typeface="Calibri"/>
              </a:rPr>
              <a:t>Against tribes.</a:t>
            </a:r>
            <a:r>
              <a:rPr sz="1300">
                <a:solidFill>
                  <a:srgbClr val="1A1A1E"/>
                </a:solidFill>
                <a:latin typeface="Calibri"/>
              </a:rPr>
              <a:t> "I don't know why it is that people like to have a oneness about things." Many important things depend on twoness.</a:t>
            </a:r>
          </a:p>
          <a:p>
            <a:pPr>
              <a:spcBef>
                <a:spcPts val="0"/>
              </a:spcBef>
              <a:spcAft>
                <a:spcPts val="700"/>
              </a:spcAft>
            </a:pPr>
            <a:r>
              <a:rPr sz="1300" b="1">
                <a:solidFill>
                  <a:srgbClr val="C4960C"/>
                </a:solidFill>
                <a:latin typeface="Calibri"/>
              </a:rPr>
              <a:t>• </a:t>
            </a:r>
            <a:r>
              <a:rPr sz="1300" b="1">
                <a:solidFill>
                  <a:srgbClr val="1A1A1E"/>
                </a:solidFill>
                <a:latin typeface="Calibri"/>
              </a:rPr>
              <a:t>Nonparametrics as a swindle.</a:t>
            </a:r>
            <a:r>
              <a:rPr sz="1300">
                <a:solidFill>
                  <a:srgbClr val="1A1A1E"/>
                </a:solidFill>
                <a:latin typeface="Calibri"/>
              </a:rPr>
              <a:t> The symmetry assumption behind the standard nonparametric alternative is very strong. Randomization, not the test statistic, is what actually buys you protection.</a:t>
            </a:r>
          </a:p>
          <a:p>
            <a:pPr>
              <a:spcBef>
                <a:spcPts val="0"/>
              </a:spcBef>
              <a:spcAft>
                <a:spcPts val="700"/>
              </a:spcAft>
            </a:pPr>
            <a:r>
              <a:rPr sz="1300" b="1">
                <a:solidFill>
                  <a:srgbClr val="C4960C"/>
                </a:solidFill>
                <a:latin typeface="Calibri"/>
              </a:rPr>
              <a:t>• </a:t>
            </a:r>
            <a:r>
              <a:rPr sz="1300" b="1">
                <a:solidFill>
                  <a:srgbClr val="1A1A1E"/>
                </a:solidFill>
                <a:latin typeface="Calibri"/>
              </a:rPr>
              <a:t>On the field's health.</a:t>
            </a:r>
            <a:r>
              <a:rPr sz="1300">
                <a:solidFill>
                  <a:srgbClr val="1A1A1E"/>
                </a:solidFill>
                <a:latin typeface="Calibri"/>
              </a:rPr>
              <a:t> Encouraged, because innovation usually comes from application. But too few people are willing to get their hands dirty, and he repeats Fisher's warning about not knowing that you don't know. "Take a very humble attitude and listen very carefully."</a:t>
            </a:r>
          </a:p>
          <a:p>
            <a:pPr>
              <a:spcBef>
                <a:spcPts val="0"/>
              </a:spcBef>
              <a:spcAft>
                <a:spcPts val="700"/>
              </a:spcAft>
            </a:pPr>
            <a:r>
              <a:rPr sz="1300" b="1">
                <a:solidFill>
                  <a:srgbClr val="C4960C"/>
                </a:solidFill>
                <a:latin typeface="Calibri"/>
              </a:rPr>
              <a:t>• </a:t>
            </a:r>
            <a:r>
              <a:rPr sz="1300" b="1">
                <a:solidFill>
                  <a:srgbClr val="1A1A1E"/>
                </a:solidFill>
                <a:latin typeface="Calibri"/>
              </a:rPr>
              <a:t>On teaching.</a:t>
            </a:r>
            <a:r>
              <a:rPr sz="1300">
                <a:solidFill>
                  <a:srgbClr val="1A1A1E"/>
                </a:solidFill>
                <a:latin typeface="Calibri"/>
              </a:rPr>
              <a:t> Monday night beer sessions at his house. Bring a real problem, and resist jumping in with solutions before you understand it.</a:t>
            </a:r>
          </a:p>
        </p:txBody>
      </p:sp>
      <p:sp>
        <p:nvSpPr>
          <p:cNvPr id="8" name="Rectangle 7"/>
          <p:cNvSpPr/>
          <p:nvPr/>
        </p:nvSpPr>
        <p:spPr>
          <a:xfrm>
            <a:off x="777240" y="5724144"/>
            <a:ext cx="10637215" cy="71323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45720" cy="713232"/>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5824728"/>
            <a:ext cx="10198303" cy="566928"/>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Estimate with Bayes, criticize with sampling theory. Refusing to pick a side is the position.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WALLIS (1980)</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The Statistical Research Group, 1942-1945</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JASA 75(370):320-330. A Presidentially Invited Address. Wallis insists it is reminiscence, not history.</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11/14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800"/>
              </a:spcAft>
            </a:pPr>
            <a:r>
              <a:rPr sz="1300" b="1">
                <a:solidFill>
                  <a:srgbClr val="C4960C"/>
                </a:solidFill>
                <a:latin typeface="Calibri"/>
              </a:rPr>
              <a:t>• </a:t>
            </a:r>
            <a:r>
              <a:rPr sz="1300" b="1">
                <a:solidFill>
                  <a:srgbClr val="1A1A1E"/>
                </a:solidFill>
                <a:latin typeface="Calibri"/>
              </a:rPr>
              <a:t>What it was.</a:t>
            </a:r>
            <a:r>
              <a:rPr sz="1300">
                <a:solidFill>
                  <a:srgbClr val="1A1A1E"/>
                </a:solidFill>
                <a:latin typeface="Calibri"/>
              </a:rPr>
              <a:t> Based at Columbia, 1 July 1942 to 30 September 1945, funded by the Applied Mathematics Panel of the NDRC under Warren Weaver. Eighteen principals and 78 people in all, about 50 at peak. The budget went from $80k to $150k to $330k. Offices sat a block from campus. The building next door held part of the atomic bomb project.</a:t>
            </a:r>
          </a:p>
          <a:p>
            <a:pPr>
              <a:spcBef>
                <a:spcPts val="0"/>
              </a:spcBef>
              <a:spcAft>
                <a:spcPts val="800"/>
              </a:spcAft>
            </a:pPr>
            <a:r>
              <a:rPr sz="1300" b="1">
                <a:solidFill>
                  <a:srgbClr val="C4960C"/>
                </a:solidFill>
                <a:latin typeface="Calibri"/>
              </a:rPr>
              <a:t>• </a:t>
            </a:r>
            <a:r>
              <a:rPr sz="1300" b="1">
                <a:solidFill>
                  <a:srgbClr val="1A1A1E"/>
                </a:solidFill>
                <a:latin typeface="Calibri"/>
              </a:rPr>
              <a:t>Who was there.</a:t>
            </a:r>
            <a:r>
              <a:rPr sz="1300">
                <a:solidFill>
                  <a:srgbClr val="1A1A1E"/>
                </a:solidFill>
                <a:latin typeface="Calibri"/>
              </a:rPr>
              <a:t> Wallis as director, plus Hotelling, Wolfowitz, Paulson, Bigelow, Friedman, Wald, Bowker, Savage, Girshick, Mosteller, Eisenhart and Stigler. Later: eight IMS presidents, four ASA presidents, two AEA presidents, one Nobel. Recruited "by the old-boy network pure and unabashed."</a:t>
            </a:r>
          </a:p>
          <a:p>
            <a:pPr>
              <a:spcBef>
                <a:spcPts val="0"/>
              </a:spcBef>
              <a:spcAft>
                <a:spcPts val="800"/>
              </a:spcAft>
            </a:pPr>
            <a:r>
              <a:rPr sz="1300" b="1">
                <a:solidFill>
                  <a:srgbClr val="C4960C"/>
                </a:solidFill>
                <a:latin typeface="Calibri"/>
              </a:rPr>
              <a:t>• </a:t>
            </a:r>
            <a:r>
              <a:rPr sz="1300" b="1">
                <a:solidFill>
                  <a:srgbClr val="1A1A1E"/>
                </a:solidFill>
                <a:latin typeface="Calibri"/>
              </a:rPr>
              <a:t>Insulated from clients, but accountable to them.</a:t>
            </a:r>
            <a:r>
              <a:rPr sz="1300">
                <a:solidFill>
                  <a:srgbClr val="1A1A1E"/>
                </a:solidFill>
                <a:latin typeface="Calibri"/>
              </a:rPr>
              <a:t> The Panel filtered the Army and Navy, so "we were not at the whim of ignorant or arbitrary clients and were under no pressures to shade our findings." Yet work "however excellent, was in effect not delivered if it had no influence." So they had to persuade.</a:t>
            </a:r>
          </a:p>
          <a:p>
            <a:pPr>
              <a:spcBef>
                <a:spcPts val="0"/>
              </a:spcBef>
              <a:spcAft>
                <a:spcPts val="800"/>
              </a:spcAft>
            </a:pPr>
            <a:r>
              <a:rPr sz="1300" b="1">
                <a:solidFill>
                  <a:srgbClr val="C4960C"/>
                </a:solidFill>
                <a:latin typeface="Calibri"/>
              </a:rPr>
              <a:t>• </a:t>
            </a:r>
            <a:r>
              <a:rPr sz="1300" b="1">
                <a:solidFill>
                  <a:srgbClr val="1A1A1E"/>
                </a:solidFill>
                <a:latin typeface="Calibri"/>
              </a:rPr>
              <a:t>The discipline was consequence.</a:t>
            </a:r>
            <a:r>
              <a:rPr sz="1300">
                <a:solidFill>
                  <a:srgbClr val="1A1A1E"/>
                </a:solidFill>
                <a:latin typeface="Calibri"/>
              </a:rPr>
              <a:t> "Fighter planes entered combat with their machine guns loaded according to Jack Wolfowitz's recommendations, and maybe the pilots came back or maybe they didn't." 572 substantive reports and four books.</a:t>
            </a:r>
          </a:p>
          <a:p>
            <a:pPr>
              <a:spcBef>
                <a:spcPts val="0"/>
              </a:spcBef>
              <a:spcAft>
                <a:spcPts val="800"/>
              </a:spcAft>
            </a:pPr>
            <a:r>
              <a:rPr sz="1300" b="1">
                <a:solidFill>
                  <a:srgbClr val="C4960C"/>
                </a:solidFill>
                <a:latin typeface="Calibri"/>
              </a:rPr>
              <a:t>• </a:t>
            </a:r>
            <a:r>
              <a:rPr sz="1300" b="1">
                <a:solidFill>
                  <a:srgbClr val="1A1A1E"/>
                </a:solidFill>
                <a:latin typeface="Calibri"/>
              </a:rPr>
              <a:t>A second story, from 1942 at Stanford.</a:t>
            </a:r>
            <a:r>
              <a:rPr sz="1300">
                <a:solidFill>
                  <a:srgbClr val="1A1A1E"/>
                </a:solidFill>
                <a:latin typeface="Calibri"/>
              </a:rPr>
              <a:t> Wallis wrote to W. Edwards Deming about wartime statistics teaching. Deming replied that "the only useful function of a statistician is to make predictions, and thus to provide a basis for action." He also proposed the short-then-long course design that seeded the national quality-control program.</a:t>
            </a:r>
          </a:p>
        </p:txBody>
      </p:sp>
      <p:sp>
        <p:nvSpPr>
          <p:cNvPr id="9" name="Rectangle 8"/>
          <p:cNvSpPr/>
          <p:nvPr/>
        </p:nvSpPr>
        <p:spPr>
          <a:xfrm>
            <a:off x="777240" y="5724144"/>
            <a:ext cx="10637215" cy="71323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45720" cy="713232"/>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824728"/>
            <a:ext cx="10198303" cy="566928"/>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FIFTH OF HIS FIVE REASONS IT MERITS MORE THAN A FOOTNOTE</a:t>
            </a:r>
          </a:p>
          <a:p>
            <a:pPr algn="l">
              <a:spcBef>
                <a:spcPts val="0"/>
              </a:spcBef>
              <a:spcAft>
                <a:spcPts val="0"/>
              </a:spcAft>
            </a:pPr>
            <a:r>
              <a:rPr sz="1400" b="1" i="0">
                <a:solidFill>
                  <a:srgbClr val="1A1A1E"/>
                </a:solidFill>
                <a:latin typeface="Calibri"/>
              </a:rPr>
              <a:t>Wallis's claim: SRG was "a model that has not been equaled of an effective statistical consulting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WALLIS (1980)</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How sequential analysis actually happened</a:t>
            </a:r>
          </a:p>
        </p:txBody>
      </p:sp>
      <p:sp>
        <p:nvSpPr>
          <p:cNvPr id="5" name="TextBox 4"/>
          <p:cNvSpPr txBox="1"/>
          <p:nvPr/>
        </p:nvSpPr>
        <p:spPr>
          <a:xfrm>
            <a:off x="777240" y="1572768"/>
            <a:ext cx="10637215" cy="274320"/>
          </a:xfrm>
          <a:prstGeom prst="rect">
            <a:avLst/>
          </a:prstGeom>
          <a:noFill/>
        </p:spPr>
        <p:txBody>
          <a:bodyPr wrap="square" lIns="0" rIns="0" tIns="0" bIns="0">
            <a:spAutoFit/>
          </a:bodyPr>
          <a:lstStyle/>
          <a:p>
            <a:pPr algn="l">
              <a:spcBef>
                <a:spcPts val="0"/>
              </a:spcBef>
              <a:spcAft>
                <a:spcPts val="0"/>
              </a:spcAft>
            </a:pPr>
            <a:r>
              <a:rPr sz="1200" b="0" i="1">
                <a:solidFill>
                  <a:srgbClr val="6B6F76"/>
                </a:solidFill>
                <a:latin typeface="Calibri"/>
              </a:rPr>
              <a:t>April 1943, reconstructed from a 1950 letter to Weaver and a 1943 memo to Wald found in Wallis's basement in 1978</a:t>
            </a:r>
          </a:p>
        </p:txBody>
      </p:sp>
      <p:sp>
        <p:nvSpPr>
          <p:cNvPr id="6" name="Rectangle 5"/>
          <p:cNvSpPr/>
          <p:nvPr/>
        </p:nvSpPr>
        <p:spPr>
          <a:xfrm>
            <a:off x="777240" y="1874519"/>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12/14</a:t>
            </a:r>
          </a:p>
        </p:txBody>
      </p:sp>
      <p:sp>
        <p:nvSpPr>
          <p:cNvPr id="8" name="TextBox 7"/>
          <p:cNvSpPr txBox="1"/>
          <p:nvPr/>
        </p:nvSpPr>
        <p:spPr>
          <a:xfrm>
            <a:off x="777240" y="2075687"/>
            <a:ext cx="10637215" cy="4142233"/>
          </a:xfrm>
          <a:prstGeom prst="rect">
            <a:avLst/>
          </a:prstGeom>
          <a:noFill/>
        </p:spPr>
        <p:txBody>
          <a:bodyPr wrap="square" lIns="0" rIns="0" tIns="0" bIns="0">
            <a:spAutoFit/>
          </a:bodyPr>
          <a:lstStyle/>
          <a:p>
            <a:pPr>
              <a:spcBef>
                <a:spcPts val="0"/>
              </a:spcBef>
              <a:spcAft>
                <a:spcPts val="600"/>
              </a:spcAft>
            </a:pPr>
            <a:r>
              <a:rPr sz="1250" b="1">
                <a:solidFill>
                  <a:srgbClr val="C4960C"/>
                </a:solidFill>
                <a:latin typeface="Calibri"/>
              </a:rPr>
              <a:t>• </a:t>
            </a:r>
            <a:r>
              <a:rPr sz="1250" b="1">
                <a:solidFill>
                  <a:srgbClr val="1A1A1E"/>
                </a:solidFill>
                <a:latin typeface="Calibri"/>
              </a:rPr>
              <a:t>It started as a complaint, not a theorem.</a:t>
            </a:r>
            <a:r>
              <a:rPr sz="1250">
                <a:solidFill>
                  <a:srgbClr val="1A1A1E"/>
                </a:solidFill>
                <a:latin typeface="Calibri"/>
              </a:rPr>
              <a:t> Navy Captain Garret Schuyler asked how large a sample was needed to compare two percentages. The answer ran to many thousands of rounds. He objected that a seasoned ordnance man would see after a few hundred that the test was settled. Could there be "some mechanical rule which could be specified in advance" for stopping early?</a:t>
            </a:r>
          </a:p>
          <a:p>
            <a:pPr>
              <a:spcBef>
                <a:spcPts val="0"/>
              </a:spcBef>
              <a:spcAft>
                <a:spcPts val="600"/>
              </a:spcAft>
            </a:pPr>
            <a:r>
              <a:rPr sz="1250" b="1">
                <a:solidFill>
                  <a:srgbClr val="C4960C"/>
                </a:solidFill>
                <a:latin typeface="Calibri"/>
              </a:rPr>
              <a:t>• </a:t>
            </a:r>
            <a:r>
              <a:rPr sz="1250" b="1">
                <a:solidFill>
                  <a:srgbClr val="1A1A1E"/>
                </a:solidFill>
                <a:latin typeface="Calibri"/>
              </a:rPr>
              <a:t>Wallis tinkers.</a:t>
            </a:r>
            <a:r>
              <a:rPr sz="1250">
                <a:solidFill>
                  <a:srgbClr val="1A1A1E"/>
                </a:solidFill>
                <a:latin typeface="Calibri"/>
              </a:rPr>
              <a:t> He goes back to his own 1942 paper on compounding probabilities from independent significance tests, a procedure "invented like almost all good ideas in statistics by R. A. Fisher." He multiplies successive probabilities under the null and hunts for a critical level.</a:t>
            </a:r>
          </a:p>
          <a:p>
            <a:pPr>
              <a:spcBef>
                <a:spcPts val="0"/>
              </a:spcBef>
              <a:spcAft>
                <a:spcPts val="600"/>
              </a:spcAft>
            </a:pPr>
            <a:r>
              <a:rPr sz="1250" b="1">
                <a:solidFill>
                  <a:srgbClr val="C4960C"/>
                </a:solidFill>
                <a:latin typeface="Calibri"/>
              </a:rPr>
              <a:t>• </a:t>
            </a:r>
            <a:r>
              <a:rPr sz="1250" b="1">
                <a:solidFill>
                  <a:srgbClr val="1A1A1E"/>
                </a:solidFill>
                <a:latin typeface="Calibri"/>
              </a:rPr>
              <a:t>Friedman, at lunch.</a:t>
            </a:r>
            <a:r>
              <a:rPr sz="1250">
                <a:solidFill>
                  <a:srgbClr val="1A1A1E"/>
                </a:solidFill>
                <a:latin typeface="Calibri"/>
              </a:rPr>
              <a:t> First insight: an ordinary fixed-N test applied sequentially already saves observations. Second: a test designed to exploit stopping could beat the "most powerful" fixed-N test. Friedman built an example on the train to Washington. They called them "supercolossal."</a:t>
            </a:r>
          </a:p>
          <a:p>
            <a:pPr>
              <a:spcBef>
                <a:spcPts val="0"/>
              </a:spcBef>
              <a:spcAft>
                <a:spcPts val="600"/>
              </a:spcAft>
            </a:pPr>
            <a:r>
              <a:rPr sz="1250" b="1">
                <a:solidFill>
                  <a:srgbClr val="C4960C"/>
                </a:solidFill>
                <a:latin typeface="Calibri"/>
              </a:rPr>
              <a:t>• </a:t>
            </a:r>
            <a:r>
              <a:rPr sz="1250" b="1">
                <a:solidFill>
                  <a:srgbClr val="1A1A1E"/>
                </a:solidFill>
                <a:latin typeface="Calibri"/>
              </a:rPr>
              <a:t>They gave it away, knowingly.</a:t>
            </a:r>
            <a:r>
              <a:rPr sz="1250">
                <a:solidFill>
                  <a:srgbClr val="1A1A1E"/>
                </a:solidFill>
                <a:latin typeface="Calibri"/>
              </a:rPr>
              <a:t> Wolfowitz was unmoved. A Butler Hall lunch ran from noon to past three without denting him. So they handed it to Wald, having agreed that "we could never expect much credit, and would have to take our chances on receiving any at all."</a:t>
            </a:r>
          </a:p>
          <a:p>
            <a:pPr>
              <a:spcBef>
                <a:spcPts val="0"/>
              </a:spcBef>
              <a:spcAft>
                <a:spcPts val="600"/>
              </a:spcAft>
            </a:pPr>
            <a:r>
              <a:rPr sz="1250" b="1">
                <a:solidFill>
                  <a:srgbClr val="C4960C"/>
                </a:solidFill>
                <a:latin typeface="Calibri"/>
              </a:rPr>
              <a:t>• </a:t>
            </a:r>
            <a:r>
              <a:rPr sz="1250" b="1">
                <a:solidFill>
                  <a:srgbClr val="1A1A1E"/>
                </a:solidFill>
                <a:latin typeface="Calibri"/>
              </a:rPr>
              <a:t>Wald, in three days.</a:t>
            </a:r>
            <a:r>
              <a:rPr sz="1250">
                <a:solidFill>
                  <a:srgbClr val="1A1A1E"/>
                </a:solidFill>
                <a:latin typeface="Calibri"/>
              </a:rPr>
              <a:t> Day 1, noncommittal. Day 2, the idea is logical, but he expects sequential tests will prove less powerful. Day 3, they exist, they are more powerful, and here is how. The sequential probability ratio test. Hotelling supplied the word "sequential."</a:t>
            </a:r>
          </a:p>
          <a:p>
            <a:pPr>
              <a:spcBef>
                <a:spcPts val="0"/>
              </a:spcBef>
              <a:spcAft>
                <a:spcPts val="600"/>
              </a:spcAft>
            </a:pPr>
            <a:r>
              <a:rPr sz="1250" b="1">
                <a:solidFill>
                  <a:srgbClr val="C4960C"/>
                </a:solidFill>
                <a:latin typeface="Calibri"/>
              </a:rPr>
              <a:t>• </a:t>
            </a:r>
            <a:r>
              <a:rPr sz="1250" b="1">
                <a:solidFill>
                  <a:srgbClr val="1A1A1E"/>
                </a:solidFill>
                <a:latin typeface="Calibri"/>
              </a:rPr>
              <a:t>Its real ancestry.</a:t>
            </a:r>
            <a:r>
              <a:rPr sz="1250">
                <a:solidFill>
                  <a:srgbClr val="1A1A1E"/>
                </a:solidFill>
                <a:latin typeface="Calibri"/>
              </a:rPr>
              <a:t> Not the prior work on double sampling or random walks. "The real relationship of Wald's work to previous work ... is to the Neyman-Pearson theory ... Wald simply sequentialized it."</a:t>
            </a:r>
          </a:p>
          <a:p>
            <a:pPr>
              <a:spcBef>
                <a:spcPts val="0"/>
              </a:spcBef>
              <a:spcAft>
                <a:spcPts val="600"/>
              </a:spcAft>
            </a:pPr>
            <a:r>
              <a:rPr sz="1250" b="1">
                <a:solidFill>
                  <a:srgbClr val="C4960C"/>
                </a:solidFill>
                <a:latin typeface="Calibri"/>
              </a:rPr>
              <a:t>• </a:t>
            </a:r>
            <a:r>
              <a:rPr sz="1250" b="1">
                <a:solidFill>
                  <a:srgbClr val="1A1A1E"/>
                </a:solidFill>
                <a:latin typeface="Calibri"/>
              </a:rPr>
              <a:t>The legend Wallis debunks.</a:t>
            </a:r>
            <a:r>
              <a:rPr sz="1250">
                <a:solidFill>
                  <a:srgbClr val="1A1A1E"/>
                </a:solidFill>
                <a:latin typeface="Calibri"/>
              </a:rPr>
              <a:t> The story that Wald's pages were snatched away and classified beyond the reach of an uncleared enemy alien. Wallis made it up himself as a petulant joke, and it became part of the history of statistics.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SYNTHESIS</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Four things that run through all six</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13/14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1500"/>
              </a:spcAft>
            </a:pPr>
            <a:r>
              <a:rPr sz="1450" b="1">
                <a:solidFill>
                  <a:srgbClr val="C4960C"/>
                </a:solidFill>
                <a:latin typeface="Calibri"/>
              </a:rPr>
              <a:t>• </a:t>
            </a:r>
            <a:r>
              <a:rPr sz="1450" b="1">
                <a:solidFill>
                  <a:srgbClr val="1A1A1E"/>
                </a:solidFill>
                <a:latin typeface="Calibri"/>
              </a:rPr>
              <a:t>Contact with reality is the source of method, not a later application of it.</a:t>
            </a:r>
            <a:r>
              <a:rPr sz="1450">
                <a:solidFill>
                  <a:srgbClr val="1A1A1E"/>
                </a:solidFill>
                <a:latin typeface="Calibri"/>
              </a:rPr>
              <a:t> Fisher at the tea urn. Box in the rubber lab. Sequential analysis out of a Navy captain grumbling about wasted ammunition. Yu &amp; Barter insisting on domain knowledge and shoe-leather work.</a:t>
            </a:r>
          </a:p>
          <a:p>
            <a:pPr>
              <a:spcBef>
                <a:spcPts val="0"/>
              </a:spcBef>
              <a:spcAft>
                <a:spcPts val="1500"/>
              </a:spcAft>
            </a:pPr>
            <a:r>
              <a:rPr sz="1450" b="1">
                <a:solidFill>
                  <a:srgbClr val="C4960C"/>
                </a:solidFill>
                <a:latin typeface="Calibri"/>
              </a:rPr>
              <a:t>• </a:t>
            </a:r>
            <a:r>
              <a:rPr sz="1450" b="1">
                <a:solidFill>
                  <a:srgbClr val="1A1A1E"/>
                </a:solidFill>
                <a:latin typeface="Calibri"/>
              </a:rPr>
              <a:t>All models are wrong, so the question is always "wrong how, and does it matter?"</a:t>
            </a:r>
            <a:r>
              <a:rPr sz="1450">
                <a:solidFill>
                  <a:srgbClr val="1A1A1E"/>
                </a:solidFill>
                <a:latin typeface="Calibri"/>
              </a:rPr>
              <a:t> Box worries selectively. Yu &amp; Barter turn the same instinct into stability analysis across perturbations and judgment calls.</a:t>
            </a:r>
          </a:p>
          <a:p>
            <a:pPr>
              <a:spcBef>
                <a:spcPts val="0"/>
              </a:spcBef>
              <a:spcAft>
                <a:spcPts val="1500"/>
              </a:spcAft>
            </a:pPr>
            <a:r>
              <a:rPr sz="1450" b="1">
                <a:solidFill>
                  <a:srgbClr val="C4960C"/>
                </a:solidFill>
                <a:latin typeface="Calibri"/>
              </a:rPr>
              <a:t>• </a:t>
            </a:r>
            <a:r>
              <a:rPr sz="1450" b="1">
                <a:solidFill>
                  <a:srgbClr val="1A1A1E"/>
                </a:solidFill>
                <a:latin typeface="Calibri"/>
              </a:rPr>
              <a:t>Criticism is the creative act.</a:t>
            </a:r>
            <a:r>
              <a:rPr sz="1450">
                <a:solidFill>
                  <a:srgbClr val="1A1A1E"/>
                </a:solidFill>
                <a:latin typeface="Calibri"/>
              </a:rPr>
              <a:t> Box's residual analysis and his half-Bayesian split. Yu &amp; Barter's predictability checks, negative controls, and refusal to treat a found pattern as a conclusion.</a:t>
            </a:r>
          </a:p>
          <a:p>
            <a:pPr>
              <a:spcBef>
                <a:spcPts val="0"/>
              </a:spcBef>
              <a:spcAft>
                <a:spcPts val="1500"/>
              </a:spcAft>
            </a:pPr>
            <a:r>
              <a:rPr sz="1450" b="1">
                <a:solidFill>
                  <a:srgbClr val="C4960C"/>
                </a:solidFill>
                <a:latin typeface="Calibri"/>
              </a:rPr>
              <a:t>• </a:t>
            </a:r>
            <a:r>
              <a:rPr sz="1450" b="1">
                <a:solidFill>
                  <a:srgbClr val="1A1A1E"/>
                </a:solidFill>
                <a:latin typeface="Calibri"/>
              </a:rPr>
              <a:t>The open loop is how it fails.</a:t>
            </a:r>
            <a:r>
              <a:rPr sz="1450">
                <a:solidFill>
                  <a:srgbClr val="1A1A1E"/>
                </a:solidFill>
                <a:latin typeface="Calibri"/>
              </a:rPr>
              <a:t> Cookbookery and mathematistry in 1976. Data snooping, unreproducible pipelines, and untested algorithms deployed on biased data today. Same disease, new hosts.</a:t>
            </a:r>
          </a:p>
        </p:txBody>
      </p:sp>
      <p:sp>
        <p:nvSpPr>
          <p:cNvPr id="8" name="Rectangle 7"/>
          <p:cNvSpPr/>
          <p:nvPr/>
        </p:nvSpPr>
        <p:spPr>
          <a:xfrm>
            <a:off x="777240" y="5724144"/>
            <a:ext cx="10637215" cy="713232"/>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45720" cy="713232"/>
          </a:xfrm>
          <a:prstGeom prst="rect">
            <a:avLst/>
          </a:prstGeom>
          <a:solidFill>
            <a:srgbClr val="003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5824728"/>
            <a:ext cx="10198303" cy="566928"/>
          </a:xfrm>
          <a:prstGeom prst="rect">
            <a:avLst/>
          </a:prstGeom>
          <a:noFill/>
        </p:spPr>
        <p:txBody>
          <a:bodyPr wrap="square" lIns="0" rIns="0" tIns="0" bIns="0">
            <a:spAutoFit/>
          </a:bodyPr>
          <a:lstStyle/>
          <a:p>
            <a:pPr algn="l">
              <a:spcBef>
                <a:spcPts val="0"/>
              </a:spcBef>
              <a:spcAft>
                <a:spcPts val="200"/>
              </a:spcAft>
            </a:pPr>
            <a:r>
              <a:rPr sz="950" b="1" i="0">
                <a:solidFill>
                  <a:srgbClr val="6B6F76"/>
                </a:solidFill>
                <a:latin typeface="Calibri"/>
              </a:rPr>
              <a:t>THE ONE LINE</a:t>
            </a:r>
          </a:p>
          <a:p>
            <a:pPr algn="l">
              <a:spcBef>
                <a:spcPts val="0"/>
              </a:spcBef>
              <a:spcAft>
                <a:spcPts val="0"/>
              </a:spcAft>
            </a:pPr>
            <a:r>
              <a:rPr sz="1400" b="1" i="0">
                <a:solidFill>
                  <a:srgbClr val="1A1A1E"/>
                </a:solidFill>
                <a:latin typeface="Calibri"/>
              </a:rPr>
              <a:t>Veridical data science is Box's iteration, made explicit and made checkable.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Rectangle 1"/>
          <p:cNvSpPr/>
          <p:nvPr/>
        </p:nvSpPr>
        <p:spPr>
          <a:xfrm>
            <a:off x="777240" y="566928"/>
            <a:ext cx="50292" cy="402336"/>
          </a:xfrm>
          <a:prstGeom prst="rect">
            <a:avLst/>
          </a:prstGeom>
          <a:solidFill>
            <a:srgbClr val="C49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08" y="548640"/>
            <a:ext cx="10436047" cy="457200"/>
          </a:xfrm>
          <a:prstGeom prst="rect">
            <a:avLst/>
          </a:prstGeom>
          <a:noFill/>
        </p:spPr>
        <p:txBody>
          <a:bodyPr wrap="square" lIns="0" rIns="0" tIns="0" bIns="0">
            <a:spAutoFit/>
          </a:bodyPr>
          <a:lstStyle/>
          <a:p>
            <a:pPr algn="l">
              <a:spcBef>
                <a:spcPts val="0"/>
              </a:spcBef>
              <a:spcAft>
                <a:spcPts val="0"/>
              </a:spcAft>
            </a:pPr>
            <a:r>
              <a:rPr sz="1150" b="1" i="0">
                <a:solidFill>
                  <a:srgbClr val="6B6F76"/>
                </a:solidFill>
                <a:latin typeface="Calibri"/>
              </a:rPr>
              <a:t>FOR THURSDAY</a:t>
            </a:r>
          </a:p>
        </p:txBody>
      </p:sp>
      <p:sp>
        <p:nvSpPr>
          <p:cNvPr id="4" name="TextBox 3"/>
          <p:cNvSpPr txBox="1"/>
          <p:nvPr/>
        </p:nvSpPr>
        <p:spPr>
          <a:xfrm>
            <a:off x="777240" y="932688"/>
            <a:ext cx="10637215" cy="640080"/>
          </a:xfrm>
          <a:prstGeom prst="rect">
            <a:avLst/>
          </a:prstGeom>
          <a:noFill/>
        </p:spPr>
        <p:txBody>
          <a:bodyPr wrap="square" lIns="0" rIns="0" tIns="0" bIns="0">
            <a:spAutoFit/>
          </a:bodyPr>
          <a:lstStyle/>
          <a:p>
            <a:pPr algn="l">
              <a:spcBef>
                <a:spcPts val="0"/>
              </a:spcBef>
              <a:spcAft>
                <a:spcPts val="0"/>
              </a:spcAft>
            </a:pPr>
            <a:r>
              <a:rPr sz="2900" b="1" i="0">
                <a:solidFill>
                  <a:srgbClr val="003B70"/>
                </a:solidFill>
                <a:latin typeface="Calibri"/>
              </a:rPr>
              <a:t>Questions worth arriving with</a:t>
            </a:r>
          </a:p>
        </p:txBody>
      </p:sp>
      <p:sp>
        <p:nvSpPr>
          <p:cNvPr id="5" name="Rectangle 4"/>
          <p:cNvSpPr/>
          <p:nvPr/>
        </p:nvSpPr>
        <p:spPr>
          <a:xfrm>
            <a:off x="777240" y="1691640"/>
            <a:ext cx="10637215" cy="15875"/>
          </a:xfrm>
          <a:prstGeom prst="rect">
            <a:avLst/>
          </a:prstGeom>
          <a:solidFill>
            <a:srgbClr val="D8D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6473952"/>
            <a:ext cx="640080" cy="228600"/>
          </a:xfrm>
          <a:prstGeom prst="rect">
            <a:avLst/>
          </a:prstGeom>
          <a:noFill/>
        </p:spPr>
        <p:txBody>
          <a:bodyPr wrap="square" lIns="0" rIns="0" tIns="0" bIns="0">
            <a:spAutoFit/>
          </a:bodyPr>
          <a:lstStyle/>
          <a:p>
            <a:pPr algn="r">
              <a:spcBef>
                <a:spcPts val="0"/>
              </a:spcBef>
              <a:spcAft>
                <a:spcPts val="0"/>
              </a:spcAft>
            </a:pPr>
            <a:r>
              <a:rPr sz="950" b="0" i="0">
                <a:solidFill>
                  <a:srgbClr val="6B6F76"/>
                </a:solidFill>
                <a:latin typeface="Calibri"/>
              </a:rPr>
              <a:t>14/14</a:t>
            </a:r>
          </a:p>
        </p:txBody>
      </p:sp>
      <p:sp>
        <p:nvSpPr>
          <p:cNvPr id="7" name="TextBox 6"/>
          <p:cNvSpPr txBox="1"/>
          <p:nvPr/>
        </p:nvSpPr>
        <p:spPr>
          <a:xfrm>
            <a:off x="777240" y="1892808"/>
            <a:ext cx="10637215" cy="4325112"/>
          </a:xfrm>
          <a:prstGeom prst="rect">
            <a:avLst/>
          </a:prstGeom>
          <a:noFill/>
        </p:spPr>
        <p:txBody>
          <a:bodyPr wrap="square" lIns="0" rIns="0" tIns="0" bIns="0">
            <a:spAutoFit/>
          </a:bodyPr>
          <a:lstStyle/>
          <a:p>
            <a:pPr>
              <a:spcBef>
                <a:spcPts val="0"/>
              </a:spcBef>
              <a:spcAft>
                <a:spcPts val="1300"/>
              </a:spcAft>
            </a:pPr>
            <a:r>
              <a:rPr sz="1450" b="1">
                <a:solidFill>
                  <a:srgbClr val="C4960C"/>
                </a:solidFill>
                <a:latin typeface="Calibri"/>
              </a:rPr>
              <a:t>• </a:t>
            </a:r>
            <a:r>
              <a:rPr sz="1450" b="1">
                <a:solidFill>
                  <a:srgbClr val="1A1A1E"/>
                </a:solidFill>
                <a:latin typeface="Calibri"/>
              </a:rPr>
              <a:t>Ch. 2 sets this as an exercise.</a:t>
            </a:r>
            <a:r>
              <a:rPr sz="1450">
                <a:solidFill>
                  <a:srgbClr val="1A1A1E"/>
                </a:solidFill>
                <a:latin typeface="Calibri"/>
              </a:rPr>
              <a:t> How does Box (1976) map onto the DSLC and PCS? Where does his loop have stages the DSLC does not, and the reverse?</a:t>
            </a:r>
          </a:p>
          <a:p>
            <a:pPr>
              <a:spcBef>
                <a:spcPts val="0"/>
              </a:spcBef>
              <a:spcAft>
                <a:spcPts val="1300"/>
              </a:spcAft>
            </a:pPr>
            <a:r>
              <a:rPr sz="1450" b="1">
                <a:solidFill>
                  <a:srgbClr val="C4960C"/>
                </a:solidFill>
                <a:latin typeface="Calibri"/>
              </a:rPr>
              <a:t>• </a:t>
            </a:r>
            <a:r>
              <a:rPr sz="1450" b="1">
                <a:solidFill>
                  <a:srgbClr val="1A1A1E"/>
                </a:solidFill>
                <a:latin typeface="Calibri"/>
              </a:rPr>
              <a:t>Is stability really a generalization of inference,</a:t>
            </a:r>
            <a:r>
              <a:rPr sz="1450">
                <a:solidFill>
                  <a:srgbClr val="1A1A1E"/>
                </a:solidFill>
                <a:latin typeface="Calibri"/>
              </a:rPr>
              <a:t> or a different thing wearing its clothes? Box would say model criticism needs repeated sampling. Is a stability analysis repeated sampling?</a:t>
            </a:r>
          </a:p>
          <a:p>
            <a:pPr>
              <a:spcBef>
                <a:spcPts val="0"/>
              </a:spcBef>
              <a:spcAft>
                <a:spcPts val="1300"/>
              </a:spcAft>
            </a:pPr>
            <a:r>
              <a:rPr sz="1450" b="1">
                <a:solidFill>
                  <a:srgbClr val="C4960C"/>
                </a:solidFill>
                <a:latin typeface="Calibri"/>
              </a:rPr>
              <a:t>• </a:t>
            </a:r>
            <a:r>
              <a:rPr sz="1450" b="1">
                <a:solidFill>
                  <a:srgbClr val="1A1A1E"/>
                </a:solidFill>
                <a:latin typeface="Calibri"/>
              </a:rPr>
              <a:t>Where is the modern mathematistry?</a:t>
            </a:r>
            <a:r>
              <a:rPr sz="1450">
                <a:solidFill>
                  <a:srgbClr val="1A1A1E"/>
                </a:solidFill>
                <a:latin typeface="Calibri"/>
              </a:rPr>
              <a:t> Box named distribution-free tests and combinatorial design theory. What would he name in 2026?</a:t>
            </a:r>
          </a:p>
          <a:p>
            <a:pPr>
              <a:spcBef>
                <a:spcPts val="0"/>
              </a:spcBef>
              <a:spcAft>
                <a:spcPts val="1300"/>
              </a:spcAft>
            </a:pPr>
            <a:r>
              <a:rPr sz="1450" b="1">
                <a:solidFill>
                  <a:srgbClr val="C4960C"/>
                </a:solidFill>
                <a:latin typeface="Calibri"/>
              </a:rPr>
              <a:t>• </a:t>
            </a:r>
            <a:r>
              <a:rPr sz="1450" b="1">
                <a:solidFill>
                  <a:srgbClr val="1A1A1E"/>
                </a:solidFill>
                <a:latin typeface="Calibri"/>
              </a:rPr>
              <a:t>PCS forgives data snooping if you can show predictability and stability.</a:t>
            </a:r>
            <a:r>
              <a:rPr sz="1450">
                <a:solidFill>
                  <a:srgbClr val="1A1A1E"/>
                </a:solidFill>
                <a:latin typeface="Calibri"/>
              </a:rPr>
              <a:t> Is that a weaker guarantee than preregistration, or a different one?</a:t>
            </a:r>
          </a:p>
          <a:p>
            <a:pPr>
              <a:spcBef>
                <a:spcPts val="0"/>
              </a:spcBef>
              <a:spcAft>
                <a:spcPts val="1300"/>
              </a:spcAft>
            </a:pPr>
            <a:r>
              <a:rPr sz="1450" b="1">
                <a:solidFill>
                  <a:srgbClr val="C4960C"/>
                </a:solidFill>
                <a:latin typeface="Calibri"/>
              </a:rPr>
              <a:t>• </a:t>
            </a:r>
            <a:r>
              <a:rPr sz="1450" b="1">
                <a:solidFill>
                  <a:srgbClr val="1A1A1E"/>
                </a:solidFill>
                <a:latin typeface="Calibri"/>
              </a:rPr>
              <a:t>Wallis credits SRG to insulation from clients plus real consequences for being wrong.</a:t>
            </a:r>
            <a:r>
              <a:rPr sz="1450">
                <a:solidFill>
                  <a:srgbClr val="1A1A1E"/>
                </a:solidFill>
                <a:latin typeface="Calibri"/>
              </a:rPr>
              <a:t> Which half does modern data science have, and which is it missing? Yu &amp; Barter answer the same problem procedurally, with PCS. Wallis's answer was institutional.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